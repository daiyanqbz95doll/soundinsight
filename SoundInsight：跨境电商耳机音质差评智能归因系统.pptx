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embedTrueTypeFonts="true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</p:sldIdLst>
  <p:sldSz cx="12192000" cy="6858000"/>
  <p:notesSz cx="6858000" cy="9144000"/>
  <p:embeddedFontLst>
    <p:embeddedFont>
      <p:font typeface="Inter"/>
      <p:regular r:id="rId48"/>
      <p:bold r:id="rId49"/>
    </p:embeddedFont>
    <p:embeddedFont>
      <p:font typeface="FZYaYiHei GB18030L2 R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fonts/font1.fntdata" Type="http://schemas.openxmlformats.org/officeDocument/2006/relationships/font"/><Relationship Id="rId49" Target="fonts/font2.fntdata" Type="http://schemas.openxmlformats.org/officeDocument/2006/relationships/font"/><Relationship Id="rId5" Target="tableStyles.xml" Type="http://schemas.openxmlformats.org/officeDocument/2006/relationships/tableStyles"/><Relationship Id="rId50" Target="fonts/font3.fntdata" Type="http://schemas.openxmlformats.org/officeDocument/2006/relationships/font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true"/>
    <c:plotArea>
      <c:layout/>
      <c:barChart>
        <c:barDir val="col"/>
        <c:grouping val="clustered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5B8CB8">
                <a:alpha val="100000"/>
              </a:srgbClr>
            </a:solidFill>
          </c:spPr>
          <c:invertIfNegative val="false"/>
          <c:dLbls>
            <c:txPr>
              <a:bodyPr rot="0" anchor="t" anchorCtr="false" wrap="none" lIns="0" rIns="0" tIns="0" bIns="0" vert="horz"/>
              <a:lstStyle/>
              <a:p>
                <a:pPr algn="l">
                  <a:defRPr b="false" i="false" strike="noStrike" sz="900">
                    <a:ln/>
                    <a:solidFill>
                      <a:srgbClr val="0A1F3D">
                        <a:alpha val="100000"/>
                      </a:srgbClr>
                    </a:solidFill>
                    <a:latin typeface="Inter"/>
                    <a:ea typeface="Inter"/>
                    <a:cs typeface="Inter"/>
                  </a:defRPr>
                </a:pPr>
                <a:endParaRPr/>
              </a:p>
            </c:txPr>
            <c:dLblPos val="outEnd"/>
            <c:showLegendKey val="false"/>
            <c:showVal val="true"/>
            <c:showCatName val="false"/>
            <c:showSerName val="false"/>
            <c:showPercent val="false"/>
            <c:showBubbleSize val="false"/>
          </c:dLbls>
          <c:cat>
            <c:strRef>
              <c:f>Sheet1!$A$2:$A$6</c:f>
              <c:strCache>
                <c:ptCount val="5"/>
                <c:pt idx="0">
                  <c:v>低音</c:v>
                </c:pt>
                <c:pt idx="1">
                  <c:v>清晰度</c:v>
                </c:pt>
                <c:pt idx="2">
                  <c:v>杂音</c:v>
                </c:pt>
                <c:pt idx="3">
                  <c:v>音量</c:v>
                </c:pt>
                <c:pt idx="4">
                  <c:v>高音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0.79</c:v>
                </c:pt>
                <c:pt idx="1">
                  <c:v>0.77</c:v>
                </c:pt>
                <c:pt idx="2">
                  <c:v>0.84</c:v>
                </c:pt>
                <c:pt idx="3">
                  <c:v>0.84</c:v>
                </c:pt>
                <c:pt idx="4">
                  <c:v>0</c:v>
                </c:pt>
              </c:numCache>
            </c:numRef>
          </c:val>
        </c:ser>
        <c:dLbls>
          <c:txPr>
            <a:bodyPr rot="0" anchor="t" anchorCtr="false" wrap="none" lIns="0" rIns="0" tIns="0" bIns="0" vert="horz"/>
            <a:lstStyle/>
            <a:p>
              <a:pPr algn="l">
                <a:defRPr b="false" i="false" strike="noStrike" sz="900">
                  <a:ln/>
                  <a:solidFill>
                    <a:srgbClr val="0A1F3D">
                      <a:alpha val="100000"/>
                    </a:srgbClr>
                  </a:solidFill>
                  <a:latin typeface="Inter"/>
                  <a:ea typeface="Inter"/>
                  <a:cs typeface="Inter"/>
                </a:defRPr>
              </a:pPr>
              <a:endParaRPr/>
            </a:p>
          </c:txPr>
          <c:dLblPos val="outEnd"/>
          <c:showLegendKey val="false"/>
          <c:showVal val="true"/>
          <c:showCatName val="false"/>
          <c:showSerName val="false"/>
          <c:showPercent val="false"/>
          <c:showBubbleSize val="false"/>
        </c:dLbls>
        <c:gapWidth val="40"/>
        <c:overlap val="-10"/>
        <c:axId val="1"/>
        <c:axId val="1001"/>
      </c:barChart>
      <c:catAx>
        <c:axId val="1"/>
        <c:scaling>
          <c:orientation val="minMax"/>
        </c:scaling>
        <c:delete val="false"/>
        <c:axPos val="b"/>
        <c:majorTickMark val="none"/>
        <c:minorTickMark val="none"/>
        <c:tickLblPos val="nextTo"/>
        <c:spPr>
          <a:ln w="12700">
            <a:solidFill>
              <a:srgbClr val="A6A6A6">
                <a:alpha val="100000"/>
              </a:srgbClr>
            </a:solidFill>
          </a:ln>
        </c:spPr>
        <c:txPr>
          <a:bodyPr rot="0" anchor="t" anchorCtr="false" wrap="none" lIns="0" rIns="0" tIns="0" bIns="0" vert="horz"/>
          <a:p>
            <a:pPr algn="l">
              <a:defRPr b="false" i="false" strike="noStrike" sz="9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defRPr>
            </a:pPr>
            <a:endParaRPr/>
          </a:p>
        </c:txPr>
        <c:crossAx val="1001"/>
        <c:crosses val="autoZero"/>
        <c:auto val="true"/>
        <c:lblAlgn val="ctr"/>
        <c:lblOffset val="100"/>
        <c:noMultiLvlLbl val="false"/>
      </c:catAx>
      <c:valAx>
        <c:axId val="1001"/>
        <c:scaling>
          <c:orientation val="minMax"/>
          <c:max val="1.0"/>
          <c:min val="0.0"/>
        </c:scaling>
        <c:delete val="false"/>
        <c:axPos val="l"/>
        <c:majorGridlines>
          <c:spPr>
            <a:ln w="12700">
              <a:solidFill>
                <a:srgbClr val="C5CDD6">
                  <a:alpha val="100000"/>
                </a:srgbClr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 rot="0" anchor="t" anchorCtr="false" wrap="none" lIns="0" rIns="0" tIns="0" bIns="0" vert="horz"/>
          <a:p>
            <a:pPr algn="l">
              <a:defRPr b="false" i="false" strike="noStrike" sz="900">
                <a:ln/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defRPr>
            </a:pPr>
            <a:endParaRPr/>
          </a:p>
        </c:txPr>
        <c:crossAx val="1"/>
        <c:crosses val="autoZero"/>
        <c:majorUnit val="0.2"/>
      </c:valAx>
    </c:plotArea>
    <c:plotVisOnly val="true"/>
  </c:chart>
  <c:externalData r:id="rId1">
    <c:autoUpdate val="false"/>
  </c:externalData>
</c:chartSpace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各位评委好，我是'更新世界的锋芒'团队的负责人。今天我要分享的项目叫 SoundInsight——一个为跨境电商耳机卖家打造的音质差评智能归因系统。但在此之前，我想先告诉大家一个事实：这个项目从创意到落地，是我一个人带着四个 AI 助手，在 8 小时内完成了初赛方案，又用 12 天跑通了复赛的全部技术闭环。接下来，请允许我用 10 分钟时间，向各位展示我们做了什么、怎么做的、以及它为什么有价值。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今天的分享分为五个部分：首先我们看跨境电商耳机卖家面临的真实痛点；然后介绍 SoundInsight 的技术方案与核心创新；第三部分用详实的实验数据验证模型效果；第四部分从商业视角分析竞品差异与成本效益；最后坦诚讨论局限并展望未来方向。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我们先来看第一个问题：为什么跨境电商耳机卖家需要这样一个工具？答案藏在每天涌入的海量用户评论里。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跨境电商耳机卖家每天面对的最大挑战是什么？我们总结了三大痛点。第一，数据噪音极大：1-2星差评中混杂着物流、包装、客服等非音质因素，而真正值得关注的音质问题，有41.5%隐藏在看似'还行'的三星评论里——这是传统规则完全看不见的盲区。第二，分析成本高昂：一个运营人员人工阅读1000条评论需要整整8小时，还无法系统化地归因问题类型。第三，市面上缺乏专业工具，像Helium 10、Jungle Scout这样的主流SaaS只做通用情感分析，根本无法识别'低音浑浊'、'高音刺耳'这类专业声学问题。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找到了问题，接下来看我们是怎么解决的。SoundInsight的技术方案有三个核心创新点：RLCA标注法解决了数据稀缺问题，DistilBERT微调解决了模型性能问题，多标签归因头解决了问题定位问题。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SoundInsight采用数据-模型-应用三层架构。数据层是我们的核心创新——RLCA自动标注流水线，通过规则初筛、LLM复核、三星补漏三个环节，从十万条原始评论中精准提取出1257条高质量正例。模型层采用DistilBERT-base-uncased，仅66M参数，在消费级RTX 4060上即可完成训练和推理，同时叠加多标签归因头，能同时识别五类音质问题。应用层包括本地化推理引擎和自动化报告Agent，1000条评论只需30秒即可生成完整的分析报告。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RLCA标注法是我们最核心的方法创新。面对音质差评仅占1.26%的极端稀缺问题，传统人工标注成本不可接受。我们设计了四步级联流程：第一步，用声学关键词规则从十万条评论中召回1502条候选；第二步，调用LLM对候选进行语义复核，精度达到51.8%；第三步是关键——我们专门针对三星级评论进行补漏复核，从1271条三星评论中额外确认了479条漏检正例；最后人工抽查50条，整体准确率78%。这套方法的精妙之处在于：用低成本规则做大面积初筛，用LLM做精细化验证，再用三星补漏堵住最大漏洞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除了二分类识别'是不是音质差评'，SoundInsight还能进一步归因'是什么类型的音质问题'。我们的多标签归因模型覆盖低音、清晰度、杂音、音量、高音五个维度。大家可以看到，杂音和音量的F1最高，达到0.84；低音0.79，清晰度0.77，都表现不错。坦诚地说，高音维度F1为0，这是因为高音样本仅有84条，且与清晰度存在语义重叠——我们已在文档中标注为已知局限。整体宏F1达到0.6481，对于五类细粒度归因来说，这是一个扎实的基线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方案好不好，数据说了算。接下来我们用严格的实验设计和统计检验，证明SoundInsight的技术可靠性。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来看我们的核心性能。在固定验证集20000条评论上，DistilBERT模型在阈值0.97下取得F1=0.6871，召回率高达89.6%。这里特别说明一下阈值0.97的含义：这不是模型'保守'，而是在F1上取得了最优平衡。同时，系统支持卖家根据业务需求自定义阈值——如果你宁可多查也不漏查，可以调低阈值获取更高召回。5折交叉验证均值0.6234，波动率仅3.9%，说明模型性能非常稳定，不存在偶发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我们不是只跑了一个模型就说它好。大家可以看到基线对比：全判正常的F1只有0.025，TF-IDF加逻辑回归是0.410，TF-IDF加线性SVM是0.497。而我们的DistilBERT达到0.687，提升非常显著。更重要的是统计检验——Welch t检验的p值为0.000932，远小于0.05的显著性阈值，这意味着DistilBERT的优势不是随机波动，而是统计上确凿的。同时PR曲线AUC达到0.7191，在正负样本1:100的极端不平衡下依然保持了良好的区分能力。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消融实验是我们特别想展示的部分，因为失败往往比成功更有说服力。我们一共跑了四组实验：A组不做采样，用全量十万条负例训练，结果精确率高但召回率只有53%，等于漏掉了一半的差评；B组用class_weight平衡，结果过补偿，精确率崩到35.5%；C组用Focal Loss，在默认阈值下微胜，但调优后不如标准交叉熵。最终我们锁定了1:10欠采样加交叉熵的方案，F1=0.6871，是所有组合中的帕累托最优解。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技术再好，如果不能转化为商业价值，就只是一个实验室玩具。接下来我们看SoundInsight在真实商业场景中的竞争力。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市面上已有Helium 10和Jungle Scout这样的成熟SaaS工具，它们都提供通用的评论情感分析。但请大家注意对比表中的红色标记区域：在'音质专项识别'和'五类问题归因'这两个维度上，它们完全空白。这正是SoundInsight的核心差异——我们不做通用的好评差评分类，而是深入到声学层面，告诉卖家具体是低音、清晰度、杂音、音量还是高音出了问题。另外，我们是本地部署、零API成本，处理1000条评论只需30秒，而SaaS工具不仅每月收费39-49美元，还受限于云端API的响应速度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让我们算一笔具体的账。一个运营人员人工分析1000条评论需要8小时，按30元时薪算是240元。而SoundInsight只需要2分钟，成本为零——因为模型在本地GPU上运行，不需要任何API调用。时间节省99.6%，金钱节省100%。更重要的是召回能力：人工分析高度依赖个人经验，容易遗漏隐蔽的音质问题；而SoundInsight以89.6%的召回率量化可追溯。此外，人工完全无法做到系统化的五类归因，而这是SoundInsight的标配功能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任何项目都有局限，坦诚面对比刻意回避更有说服力。最后一部分，我们来聊聊SoundInsight还做得不够好的地方，以及我们计划如何改进。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SoundInsight有一个特别的设计：我们不仅展示模型擅长的场景，还主动识别并展示了六类边界案例。比如委婉表达——用户说'声音还行吧'，到底是满意还是不满？关键词误触——'bass'在英语里也可能是指鲈鱼。评分冲突——给了5星但吐槽音质差。这些边界案例我们在Demo中都有专门的展示页，让卖家清楚地知道模型在哪些场景下信心高、哪些场景下需要人工复核。我们认为，一个诚实的AI工具比一个'看起来完美'的AI工具更有价值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坦诚地说，SoundInsight目前有三个已知局限。第一，标注精度约78%，边界案例存在15-20%的误差空间；第二，高音样本仅84条导致归因F1为0；第三，当前仅支持英文评论。但我们也规划了清晰的进化路径：近期将接入评论时间戳实现时序分析，帮助卖家监控'某月后音质变差'的批次问题；中期开发多ASIN雷达图对标功能；长期建立在线持续学习机制，让模型随着新评论自动进化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在结束之前，我想分享一个可能比技术本身更值得关注的点：这个项目是怎么做出来的。我的团队是——我一个人，加上四个AI助手。Kimi负责头脑风暴和商业细节补充，DeepSeek负责技术方案选型和叙事框架，DSH Agent负责写代码、跑实验、管理GPU队列，我负责最终决策和方向把控。我们甚至定义了明确的'一票否决权'：涉及数据泄漏和指标虚高的问题，Kimi可以直接否决任何人的提议。这套'超级个体'方法论让我一个人完成了通常需要3-5人团队才能完成的工作量。我认为，这代表着未来个体创造者的一种新范式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总结一下：SoundInsight用RLCA标注法解决了数据稀缺问题，用DistilBERT实现了F1=0.687的音质差评识别，用多标签归因帮卖家精准定位五类问题，用本地部署实现了零成本、30秒千条评论的极致效率。更重要的是，这个项目本身就是AI时代超级个体工作方式的一次验证。我们的代码已经开源，欢迎各位评委扫码查看。感谢大家的时间，期待交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fault-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Relationship Id="rIdWatermark" Target="../media/watermark_aigc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1.xml" Type="http://schemas.openxmlformats.org/officeDocument/2006/relationships/char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1927884" y="2497484"/>
            <a:ext cx="8333184" cy="8172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8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SoundInsight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2209248" y="3619500"/>
            <a:ext cx="7770457" cy="74086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squar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跨境电商耳机音质差评智能归因系统</a:t>
            </a:r>
            <a:endParaRPr lang="en-US" sz="1100"/>
          </a:p>
          <a:p>
            <a:pPr algn="ctr"/>
            <a:r>
              <a:rPr b="false" i="false" strike="noStrike" sz="1300">
                <a:ln/>
                <a:solidFill>
                  <a:srgbClr val="F1F3F5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一个人 + 四个 AI 助手的超级个体实践</a:t>
            </a:r>
            <a:endParaRPr/>
          </a:p>
        </p:txBody>
      </p:sp>
      <p:pic>
        <p:nvPicPr>
          <p:cNvPr id="99999" name="WatermarkAigc"/>
          <p:cNvPicPr>
            <a:picLocks noChangeAspect="1"/>
          </p:cNvPicPr>
          <p:nvPr/>
        </p:nvPicPr>
        <p:blipFill>
          <a:blip r:embed="rIdWatermark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57086" y="2710904"/>
            <a:ext cx="450732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Contents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3082379"/>
            <a:ext cx="4507323" cy="6000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42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目录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457086" y="3954809"/>
            <a:ext cx="405648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跨境电商耳机音质差评智能归因系统的完整研究脉络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5421494" y="1517600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true"/>
          <p:nvPr/>
        </p:nvSpPr>
        <p:spPr>
          <a:xfrm flipH="false" flipV="false" rot="0">
            <a:off x="5421494" y="1155650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true"/>
          <p:nvPr/>
        </p:nvSpPr>
        <p:spPr>
          <a:xfrm flipH="false" flipV="false" rot="0">
            <a:off x="5840490" y="1088975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行业痛点与核心发现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 flipH="false" flipV="false" rot="0">
            <a:off x="5421494" y="258752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5421494" y="222557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5840490" y="215890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技术方案与核心创新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5421494" y="3657451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true"/>
          <p:nvPr/>
        </p:nvSpPr>
        <p:spPr>
          <a:xfrm flipH="false" flipV="false" rot="0">
            <a:off x="5421494" y="3295501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5840490" y="3228826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实验验证与统计检验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5421494" y="4727377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5421494" y="4365427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5840490" y="4298752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商业价值与竞品对比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5421494" y="5797302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true"/>
          <p:nvPr/>
        </p:nvSpPr>
        <p:spPr>
          <a:xfrm flipH="false" flipV="false" rot="0">
            <a:off x="5421494" y="5435352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05</a:t>
            </a:r>
            <a:endParaRPr lang="en-US" sz="1100"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5840490" y="5368677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局限坦诚与未来展望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18039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5589927" y="2536627"/>
            <a:ext cx="659902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F1F3F5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01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560073" y="2984302"/>
            <a:ext cx="9068806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行业痛点与核心发现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2014926" y="4005262"/>
            <a:ext cx="8159098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从十万条评论中挖掘卖家看不见的"温和不满"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PAIN POINTS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跨境电商耳机卖家的三大痛点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525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906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跨境电商耳机卖家面临数据噪音大、分析成本高、专业工具缺失的三重困境。核心矛盾在于：真正的音质差评并非集中在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1-2星，而是有41.5%隐藏在三星"温和不满"中，传统规则和通用情感分析工具均无法有效识别。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192536"/>
            <a:ext cx="3605799" cy="4208264"/>
          </a:xfrm>
          <a:prstGeom prst="rect">
            <a:avLst/>
          </a:prstGeom>
          <a:solidFill>
            <a:srgbClr val="E4E7EC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457086" y="21925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Box 9"/>
          <p:cNvSpPr txBox="true"/>
          <p:nvPr/>
        </p:nvSpPr>
        <p:spPr>
          <a:xfrm flipH="false" flipV="false" rot="0">
            <a:off x="695151" y="3535561"/>
            <a:ext cx="3129669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数据噪音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695151" y="3954661"/>
            <a:ext cx="3367734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1-2星差评混杂物流、包装、客服等非音质因素，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三星评论中41.5%实为音质差评，是传统规则完全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漏检的盲区</a:t>
            </a:r>
            <a:endParaRPr/>
          </a:p>
        </p:txBody>
      </p:sp>
      <p:sp>
        <p:nvSpPr>
          <p:cNvPr id="11" name="AutoShape 11"/>
          <p:cNvSpPr/>
          <p:nvPr/>
        </p:nvSpPr>
        <p:spPr>
          <a:xfrm flipH="false" flipV="false" rot="0">
            <a:off x="695151" y="5688211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Box 12"/>
          <p:cNvSpPr txBox="true"/>
          <p:nvPr/>
        </p:nvSpPr>
        <p:spPr>
          <a:xfrm flipH="false" flipV="false" rot="0">
            <a:off x="695151" y="5821561"/>
            <a:ext cx="3129669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21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41.5%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4291428" y="2192536"/>
            <a:ext cx="3605948" cy="4208264"/>
          </a:xfrm>
          <a:prstGeom prst="rect">
            <a:avLst/>
          </a:prstGeom>
          <a:solidFill>
            <a:srgbClr val="E4E7EC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 flipH="false" flipV="false" rot="0">
            <a:off x="4291428" y="2192536"/>
            <a:ext cx="360594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4529493" y="2487811"/>
            <a:ext cx="418996" cy="41910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5499" y="2500"/>
                </a:moveTo>
                <a:lnTo>
                  <a:pt x="5499" y="5000"/>
                </a:lnTo>
                <a:lnTo>
                  <a:pt x="7499" y="5000"/>
                </a:lnTo>
                <a:lnTo>
                  <a:pt x="7499" y="6000"/>
                </a:lnTo>
                <a:lnTo>
                  <a:pt x="4499" y="6000"/>
                </a:lnTo>
                <a:lnTo>
                  <a:pt x="4499" y="2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4529493" y="3745111"/>
            <a:ext cx="3129817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分析成本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4529493" y="4164211"/>
            <a:ext cx="3367883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人工阅读1000条评论需8小时且难以系统化归因，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中小卖家无专职数据分析师，问题定位严重依赖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个人经验</a:t>
            </a:r>
            <a:endParaRPr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4529493" y="5688211"/>
            <a:ext cx="3129817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4529493" y="5821561"/>
            <a:ext cx="3129817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21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8h/千条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8125918" y="2192536"/>
            <a:ext cx="3605799" cy="4208264"/>
          </a:xfrm>
          <a:prstGeom prst="rect">
            <a:avLst/>
          </a:prstGeom>
          <a:solidFill>
            <a:srgbClr val="E4E7EC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 flipH="false" flipV="false" rot="0">
            <a:off x="8125918" y="21925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 flipH="false" flipV="false" rot="0">
            <a:off x="8363984" y="2487811"/>
            <a:ext cx="418996" cy="419100"/>
          </a:xfrm>
          <a:custGeom>
            <a:rect b="b" l="l" r="r" t="t"/>
            <a:pathLst>
              <a:path h="10000" w="9998">
                <a:moveTo>
                  <a:pt x="2604" y="1372"/>
                </a:moveTo>
                <a:lnTo>
                  <a:pt x="1302" y="70"/>
                </a:lnTo>
                <a:cubicBezTo>
                  <a:pt x="1666" y="-62"/>
                  <a:pt x="2040" y="-85"/>
                  <a:pt x="2424" y="0"/>
                </a:cubicBezTo>
                <a:cubicBezTo>
                  <a:pt x="2807" y="85"/>
                  <a:pt x="3142" y="267"/>
                  <a:pt x="3430" y="547"/>
                </a:cubicBezTo>
                <a:cubicBezTo>
                  <a:pt x="3747" y="872"/>
                  <a:pt x="3937" y="1257"/>
                  <a:pt x="3999" y="1703"/>
                </a:cubicBezTo>
                <a:cubicBezTo>
                  <a:pt x="4061" y="2149"/>
                  <a:pt x="3987" y="2565"/>
                  <a:pt x="3778" y="2953"/>
                </a:cubicBezTo>
                <a:lnTo>
                  <a:pt x="9998" y="9186"/>
                </a:lnTo>
                <a:lnTo>
                  <a:pt x="9184" y="10000"/>
                </a:lnTo>
                <a:lnTo>
                  <a:pt x="2953" y="3779"/>
                </a:lnTo>
                <a:cubicBezTo>
                  <a:pt x="2565" y="3988"/>
                  <a:pt x="2149" y="4062"/>
                  <a:pt x="1703" y="4000"/>
                </a:cubicBezTo>
                <a:cubicBezTo>
                  <a:pt x="1257" y="3938"/>
                  <a:pt x="872" y="3748"/>
                  <a:pt x="546" y="3430"/>
                </a:cubicBezTo>
                <a:cubicBezTo>
                  <a:pt x="267" y="3143"/>
                  <a:pt x="85" y="2808"/>
                  <a:pt x="0" y="2424"/>
                </a:cubicBezTo>
                <a:cubicBezTo>
                  <a:pt x="-85" y="2040"/>
                  <a:pt x="-62" y="1666"/>
                  <a:pt x="70" y="1302"/>
                </a:cubicBezTo>
                <a:lnTo>
                  <a:pt x="1372" y="2605"/>
                </a:lnTo>
                <a:cubicBezTo>
                  <a:pt x="1542" y="2775"/>
                  <a:pt x="1748" y="2860"/>
                  <a:pt x="1988" y="2860"/>
                </a:cubicBezTo>
                <a:cubicBezTo>
                  <a:pt x="2228" y="2860"/>
                  <a:pt x="2433" y="2775"/>
                  <a:pt x="2604" y="2605"/>
                </a:cubicBezTo>
                <a:cubicBezTo>
                  <a:pt x="2774" y="2434"/>
                  <a:pt x="2860" y="2228"/>
                  <a:pt x="2860" y="1988"/>
                </a:cubicBezTo>
                <a:cubicBezTo>
                  <a:pt x="2860" y="1748"/>
                  <a:pt x="2774" y="1542"/>
                  <a:pt x="2604" y="1372"/>
                </a:cubicBezTo>
                <a:moveTo>
                  <a:pt x="7126" y="2186"/>
                </a:moveTo>
                <a:lnTo>
                  <a:pt x="7324" y="1163"/>
                </a:lnTo>
                <a:lnTo>
                  <a:pt x="9184" y="140"/>
                </a:lnTo>
                <a:lnTo>
                  <a:pt x="9998" y="953"/>
                </a:lnTo>
                <a:lnTo>
                  <a:pt x="8975" y="2802"/>
                </a:lnTo>
                <a:lnTo>
                  <a:pt x="7940" y="3012"/>
                </a:lnTo>
                <a:lnTo>
                  <a:pt x="6708" y="4244"/>
                </a:lnTo>
                <a:lnTo>
                  <a:pt x="5894" y="3430"/>
                </a:lnTo>
                <a:lnTo>
                  <a:pt x="7126" y="2186"/>
                </a:lnTo>
                <a:moveTo>
                  <a:pt x="337" y="8977"/>
                </a:moveTo>
                <a:lnTo>
                  <a:pt x="3430" y="5895"/>
                </a:lnTo>
                <a:lnTo>
                  <a:pt x="4243" y="6709"/>
                </a:lnTo>
                <a:lnTo>
                  <a:pt x="1163" y="9802"/>
                </a:lnTo>
                <a:cubicBezTo>
                  <a:pt x="1046" y="9910"/>
                  <a:pt x="908" y="9965"/>
                  <a:pt x="750" y="9965"/>
                </a:cubicBezTo>
                <a:cubicBezTo>
                  <a:pt x="591" y="9965"/>
                  <a:pt x="457" y="9910"/>
                  <a:pt x="349" y="9802"/>
                </a:cubicBezTo>
                <a:cubicBezTo>
                  <a:pt x="240" y="9694"/>
                  <a:pt x="182" y="9566"/>
                  <a:pt x="174" y="9419"/>
                </a:cubicBezTo>
                <a:cubicBezTo>
                  <a:pt x="166" y="9271"/>
                  <a:pt x="205" y="9139"/>
                  <a:pt x="291" y="902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true"/>
          <p:nvPr/>
        </p:nvSpPr>
        <p:spPr>
          <a:xfrm flipH="false" flipV="false" rot="0">
            <a:off x="8363984" y="3745111"/>
            <a:ext cx="3129669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工具缺失</a:t>
            </a:r>
            <a:endParaRPr lang="en-US" sz="1100"/>
          </a:p>
        </p:txBody>
      </p:sp>
      <p:sp>
        <p:nvSpPr>
          <p:cNvPr id="24" name="TextBox 24"/>
          <p:cNvSpPr txBox="true"/>
          <p:nvPr/>
        </p:nvSpPr>
        <p:spPr>
          <a:xfrm flipH="false" flipV="false" rot="0">
            <a:off x="8363984" y="4164211"/>
            <a:ext cx="3367734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Helium 10、Jungle Scout等主流SaaS仅做通用情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感分析，无法识别低音浑浊、高音刺耳等专业声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学问题</a:t>
            </a:r>
            <a:endParaRPr/>
          </a:p>
        </p:txBody>
      </p:sp>
      <p:sp>
        <p:nvSpPr>
          <p:cNvPr id="25" name="AutoShape 25"/>
          <p:cNvSpPr/>
          <p:nvPr/>
        </p:nvSpPr>
        <p:spPr>
          <a:xfrm flipH="false" flipV="false" rot="0">
            <a:off x="8363984" y="5688211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TextBox 26"/>
          <p:cNvSpPr txBox="true"/>
          <p:nvPr/>
        </p:nvSpPr>
        <p:spPr>
          <a:xfrm flipH="false" flipV="false" rot="0">
            <a:off x="8363984" y="5821561"/>
            <a:ext cx="3129669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21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0款专业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18823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5638283" y="2539901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02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560073" y="2973288"/>
            <a:ext cx="9068806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技术方案与核心创新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1845230" y="4032349"/>
            <a:ext cx="8498491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500">
                <a:ln/>
                <a:solidFill>
                  <a:srgbClr val="F1F3F5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RLCA 标注法 + DistilBERT 微调 + 多标签归因的三层架构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 Overview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系统架构总览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525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906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SoundInsight采用'数据-模型-应用'三层架构，从RLCA自动标注到DistilBERT微调再到Agent一键报告，实现从原始评论到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商业洞察的全链路自动化，且在消费级GPU上即可完成全流程推理。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268736"/>
            <a:ext cx="3605799" cy="41320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457086" y="22687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695151" y="2602111"/>
            <a:ext cx="418996" cy="419100"/>
          </a:xfrm>
          <a:custGeom>
            <a:rect b="b" l="l" r="r" t="t"/>
            <a:pathLst>
              <a:path h="10000" w="9998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695151" y="3792736"/>
            <a:ext cx="3129669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数据层：RLCA 标注流水线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695151" y="4230886"/>
            <a:ext cx="3367734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规则初筛基于声学关键词召回1,502条候选，LLM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语义复核精度51.8%，三星补漏额外挖掘479条，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最终产出1,257条高质量正例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695151" y="5650111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true"/>
          <p:nvPr/>
        </p:nvSpPr>
        <p:spPr>
          <a:xfrm flipH="false" flipV="false" rot="0">
            <a:off x="695151" y="5783461"/>
            <a:ext cx="3129669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2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1,257</a:t>
            </a:r>
            <a:r>
              <a:rPr b="true" i="false" strike="noStrike" sz="1000">
                <a:ln/>
                <a:solidFill>
                  <a:srgbClr val="5B8CB8">
                    <a:alpha val="54901"/>
                  </a:srgbClr>
                </a:solidFill>
                <a:latin typeface="Inter"/>
                <a:ea typeface="Inter"/>
                <a:cs typeface="Inter"/>
              </a:rPr>
              <a:t>条正例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4291428" y="2268736"/>
            <a:ext cx="3605948" cy="41320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4291428" y="2268736"/>
            <a:ext cx="360594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 flipH="false" flipV="false" rot="0">
            <a:off x="4529493" y="2602111"/>
            <a:ext cx="418996" cy="419100"/>
          </a:xfrm>
          <a:custGeom>
            <a:rect b="b" l="l" r="r" t="t"/>
            <a:pathLst>
              <a:path h="10000" w="9998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4529493" y="3792736"/>
            <a:ext cx="3129817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模型层：轻量高效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4529493" y="4230886"/>
            <a:ext cx="3367883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DistilBERT-base仅66M参数，1:10欠采样策略训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练，叠加多标签归因头同时识别低音、清晰度、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杂音、音量、高音五类问题</a:t>
            </a:r>
            <a:endParaRPr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4529493" y="5650111"/>
            <a:ext cx="3129817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true"/>
          <p:nvPr/>
        </p:nvSpPr>
        <p:spPr>
          <a:xfrm flipH="false" flipV="false" rot="0">
            <a:off x="4529493" y="5783461"/>
            <a:ext cx="3129817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2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66M</a:t>
            </a:r>
            <a:r>
              <a:rPr b="true" i="false" strike="noStrike" sz="1000">
                <a:ln/>
                <a:solidFill>
                  <a:srgbClr val="5B8CB8">
                    <a:alpha val="54901"/>
                  </a:srgbClr>
                </a:solidFill>
                <a:latin typeface="Inter"/>
                <a:ea typeface="Inter"/>
                <a:cs typeface="Inter"/>
              </a:rPr>
              <a:t>参数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 flipH="false" flipV="false" rot="0">
            <a:off x="8125918" y="2268736"/>
            <a:ext cx="3605799" cy="41320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 flipH="false" flipV="false" rot="0">
            <a:off x="8125918" y="22687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 flipH="false" flipV="false" rot="0">
            <a:off x="8363984" y="2602111"/>
            <a:ext cx="418996" cy="419100"/>
          </a:xfrm>
          <a:custGeom>
            <a:rect b="b" l="l" r="r" t="t"/>
            <a:pathLst>
              <a:path h="10000" w="9998">
                <a:moveTo>
                  <a:pt x="5624" y="737"/>
                </a:moveTo>
                <a:lnTo>
                  <a:pt x="5624" y="727"/>
                </a:lnTo>
                <a:cubicBezTo>
                  <a:pt x="5624" y="837"/>
                  <a:pt x="5606" y="940"/>
                  <a:pt x="5570" y="1035"/>
                </a:cubicBezTo>
                <a:cubicBezTo>
                  <a:pt x="5534" y="1129"/>
                  <a:pt x="5482" y="1208"/>
                  <a:pt x="5416" y="1274"/>
                </a:cubicBezTo>
                <a:lnTo>
                  <a:pt x="5416" y="2191"/>
                </a:lnTo>
                <a:lnTo>
                  <a:pt x="7499" y="2191"/>
                </a:lnTo>
                <a:cubicBezTo>
                  <a:pt x="7726" y="2191"/>
                  <a:pt x="7936" y="2257"/>
                  <a:pt x="8128" y="2391"/>
                </a:cubicBezTo>
                <a:cubicBezTo>
                  <a:pt x="8319" y="2525"/>
                  <a:pt x="8470" y="2704"/>
                  <a:pt x="8582" y="2928"/>
                </a:cubicBezTo>
                <a:cubicBezTo>
                  <a:pt x="8692" y="3152"/>
                  <a:pt x="8748" y="3395"/>
                  <a:pt x="8748" y="3655"/>
                </a:cubicBezTo>
                <a:lnTo>
                  <a:pt x="8748" y="8536"/>
                </a:lnTo>
                <a:cubicBezTo>
                  <a:pt x="8748" y="8802"/>
                  <a:pt x="8692" y="9048"/>
                  <a:pt x="8582" y="9273"/>
                </a:cubicBezTo>
                <a:cubicBezTo>
                  <a:pt x="8470" y="9497"/>
                  <a:pt x="8319" y="9676"/>
                  <a:pt x="8128" y="9810"/>
                </a:cubicBezTo>
                <a:cubicBezTo>
                  <a:pt x="7936" y="9943"/>
                  <a:pt x="7726" y="10006"/>
                  <a:pt x="7499" y="10000"/>
                </a:cubicBezTo>
                <a:lnTo>
                  <a:pt x="2500" y="10000"/>
                </a:lnTo>
                <a:cubicBezTo>
                  <a:pt x="2272" y="10006"/>
                  <a:pt x="2062" y="9943"/>
                  <a:pt x="1870" y="9810"/>
                </a:cubicBezTo>
                <a:cubicBezTo>
                  <a:pt x="1678" y="9676"/>
                  <a:pt x="1527" y="9497"/>
                  <a:pt x="1416" y="9273"/>
                </a:cubicBezTo>
                <a:cubicBezTo>
                  <a:pt x="1305" y="9048"/>
                  <a:pt x="1250" y="8802"/>
                  <a:pt x="1250" y="8536"/>
                </a:cubicBezTo>
                <a:lnTo>
                  <a:pt x="1250" y="3655"/>
                </a:lnTo>
                <a:cubicBezTo>
                  <a:pt x="1250" y="3395"/>
                  <a:pt x="1305" y="3152"/>
                  <a:pt x="1416" y="2928"/>
                </a:cubicBezTo>
                <a:cubicBezTo>
                  <a:pt x="1527" y="2704"/>
                  <a:pt x="1678" y="2525"/>
                  <a:pt x="1870" y="2391"/>
                </a:cubicBezTo>
                <a:cubicBezTo>
                  <a:pt x="2062" y="2257"/>
                  <a:pt x="2272" y="2191"/>
                  <a:pt x="2500" y="2191"/>
                </a:cubicBezTo>
                <a:lnTo>
                  <a:pt x="4582" y="2191"/>
                </a:lnTo>
                <a:lnTo>
                  <a:pt x="4582" y="1274"/>
                </a:lnTo>
                <a:cubicBezTo>
                  <a:pt x="4515" y="1208"/>
                  <a:pt x="4464" y="1129"/>
                  <a:pt x="4428" y="1035"/>
                </a:cubicBezTo>
                <a:cubicBezTo>
                  <a:pt x="4392" y="940"/>
                  <a:pt x="4374" y="841"/>
                  <a:pt x="4374" y="737"/>
                </a:cubicBezTo>
                <a:cubicBezTo>
                  <a:pt x="4374" y="529"/>
                  <a:pt x="4435" y="353"/>
                  <a:pt x="4557" y="210"/>
                </a:cubicBezTo>
                <a:cubicBezTo>
                  <a:pt x="4679" y="66"/>
                  <a:pt x="4827" y="-3"/>
                  <a:pt x="4999" y="0"/>
                </a:cubicBezTo>
                <a:cubicBezTo>
                  <a:pt x="5171" y="3"/>
                  <a:pt x="5318" y="75"/>
                  <a:pt x="5441" y="215"/>
                </a:cubicBezTo>
                <a:cubicBezTo>
                  <a:pt x="5563" y="355"/>
                  <a:pt x="5624" y="529"/>
                  <a:pt x="5624" y="737"/>
                </a:cubicBezTo>
                <a:moveTo>
                  <a:pt x="7499" y="3167"/>
                </a:moveTo>
                <a:lnTo>
                  <a:pt x="2500" y="3167"/>
                </a:lnTo>
                <a:cubicBezTo>
                  <a:pt x="2383" y="3167"/>
                  <a:pt x="2284" y="3216"/>
                  <a:pt x="2204" y="3314"/>
                </a:cubicBezTo>
                <a:cubicBezTo>
                  <a:pt x="2123" y="3411"/>
                  <a:pt x="2083" y="3525"/>
                  <a:pt x="2083" y="3655"/>
                </a:cubicBezTo>
                <a:lnTo>
                  <a:pt x="2083" y="8536"/>
                </a:lnTo>
                <a:cubicBezTo>
                  <a:pt x="2083" y="8672"/>
                  <a:pt x="2123" y="8788"/>
                  <a:pt x="2204" y="8882"/>
                </a:cubicBezTo>
                <a:cubicBezTo>
                  <a:pt x="2284" y="8976"/>
                  <a:pt x="2383" y="9024"/>
                  <a:pt x="2500" y="9024"/>
                </a:cubicBezTo>
                <a:lnTo>
                  <a:pt x="7499" y="9024"/>
                </a:lnTo>
                <a:cubicBezTo>
                  <a:pt x="7615" y="9024"/>
                  <a:pt x="7713" y="8976"/>
                  <a:pt x="7794" y="8882"/>
                </a:cubicBezTo>
                <a:cubicBezTo>
                  <a:pt x="7874" y="8788"/>
                  <a:pt x="7915" y="8672"/>
                  <a:pt x="7915" y="8536"/>
                </a:cubicBezTo>
                <a:lnTo>
                  <a:pt x="7915" y="3655"/>
                </a:lnTo>
                <a:cubicBezTo>
                  <a:pt x="7915" y="3525"/>
                  <a:pt x="7874" y="3413"/>
                  <a:pt x="7794" y="3319"/>
                </a:cubicBezTo>
                <a:cubicBezTo>
                  <a:pt x="7713" y="3224"/>
                  <a:pt x="7615" y="3173"/>
                  <a:pt x="7499" y="3167"/>
                </a:cubicBezTo>
                <a:moveTo>
                  <a:pt x="833" y="7560"/>
                </a:moveTo>
                <a:lnTo>
                  <a:pt x="833" y="4632"/>
                </a:lnTo>
                <a:lnTo>
                  <a:pt x="0" y="4632"/>
                </a:lnTo>
                <a:lnTo>
                  <a:pt x="0" y="7560"/>
                </a:lnTo>
                <a:lnTo>
                  <a:pt x="833" y="7560"/>
                </a:lnTo>
                <a:moveTo>
                  <a:pt x="9165" y="7560"/>
                </a:moveTo>
                <a:lnTo>
                  <a:pt x="9165" y="4632"/>
                </a:lnTo>
                <a:lnTo>
                  <a:pt x="9998" y="4632"/>
                </a:lnTo>
                <a:lnTo>
                  <a:pt x="9998" y="7560"/>
                </a:lnTo>
                <a:lnTo>
                  <a:pt x="9165" y="7560"/>
                </a:lnTo>
                <a:moveTo>
                  <a:pt x="3749" y="6828"/>
                </a:moveTo>
                <a:cubicBezTo>
                  <a:pt x="3921" y="6834"/>
                  <a:pt x="4069" y="6765"/>
                  <a:pt x="4191" y="6623"/>
                </a:cubicBezTo>
                <a:cubicBezTo>
                  <a:pt x="4313" y="6479"/>
                  <a:pt x="4374" y="6305"/>
                  <a:pt x="4374" y="6101"/>
                </a:cubicBezTo>
                <a:cubicBezTo>
                  <a:pt x="4374" y="5895"/>
                  <a:pt x="4313" y="5721"/>
                  <a:pt x="4191" y="5578"/>
                </a:cubicBezTo>
                <a:cubicBezTo>
                  <a:pt x="4069" y="5435"/>
                  <a:pt x="3921" y="5365"/>
                  <a:pt x="3749" y="5368"/>
                </a:cubicBezTo>
                <a:cubicBezTo>
                  <a:pt x="3577" y="5371"/>
                  <a:pt x="3430" y="5443"/>
                  <a:pt x="3308" y="5583"/>
                </a:cubicBezTo>
                <a:cubicBezTo>
                  <a:pt x="3185" y="5723"/>
                  <a:pt x="3124" y="5895"/>
                  <a:pt x="3124" y="6101"/>
                </a:cubicBezTo>
                <a:cubicBezTo>
                  <a:pt x="3124" y="6305"/>
                  <a:pt x="3185" y="6478"/>
                  <a:pt x="3308" y="6618"/>
                </a:cubicBezTo>
                <a:cubicBezTo>
                  <a:pt x="3430" y="6758"/>
                  <a:pt x="3577" y="6828"/>
                  <a:pt x="3749" y="6828"/>
                </a:cubicBezTo>
                <a:moveTo>
                  <a:pt x="6249" y="6828"/>
                </a:moveTo>
                <a:cubicBezTo>
                  <a:pt x="6421" y="6828"/>
                  <a:pt x="6568" y="6758"/>
                  <a:pt x="6690" y="6618"/>
                </a:cubicBezTo>
                <a:cubicBezTo>
                  <a:pt x="6812" y="6478"/>
                  <a:pt x="6874" y="6305"/>
                  <a:pt x="6874" y="6101"/>
                </a:cubicBezTo>
                <a:cubicBezTo>
                  <a:pt x="6874" y="5895"/>
                  <a:pt x="6812" y="5721"/>
                  <a:pt x="6690" y="5578"/>
                </a:cubicBezTo>
                <a:cubicBezTo>
                  <a:pt x="6568" y="5435"/>
                  <a:pt x="6421" y="5365"/>
                  <a:pt x="6249" y="5368"/>
                </a:cubicBezTo>
                <a:cubicBezTo>
                  <a:pt x="6076" y="5371"/>
                  <a:pt x="5929" y="5443"/>
                  <a:pt x="5807" y="5583"/>
                </a:cubicBezTo>
                <a:cubicBezTo>
                  <a:pt x="5685" y="5723"/>
                  <a:pt x="5624" y="5895"/>
                  <a:pt x="5624" y="6101"/>
                </a:cubicBezTo>
                <a:cubicBezTo>
                  <a:pt x="5624" y="6305"/>
                  <a:pt x="5685" y="6478"/>
                  <a:pt x="5807" y="6618"/>
                </a:cubicBezTo>
                <a:cubicBezTo>
                  <a:pt x="5929" y="6758"/>
                  <a:pt x="6076" y="6828"/>
                  <a:pt x="6249" y="6828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true"/>
          <p:nvPr/>
        </p:nvSpPr>
        <p:spPr>
          <a:xfrm flipH="false" flipV="false" rot="0">
            <a:off x="8363984" y="3792736"/>
            <a:ext cx="3129669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应用层：一键洞察</a:t>
            </a:r>
            <a:endParaRPr lang="en-US" sz="1100"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8363984" y="4230886"/>
            <a:ext cx="3367734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本地推理引擎处理1000条评论仅需30秒，Agent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自动生成六节结构报告，零API成本、零数据外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传，隐私完全可控</a:t>
            </a:r>
            <a:endParaRPr/>
          </a:p>
        </p:txBody>
      </p:sp>
      <p:sp>
        <p:nvSpPr>
          <p:cNvPr id="26" name="AutoShape 26"/>
          <p:cNvSpPr/>
          <p:nvPr/>
        </p:nvSpPr>
        <p:spPr>
          <a:xfrm flipH="false" flipV="false" rot="0">
            <a:off x="8363984" y="5650111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Box 27"/>
          <p:cNvSpPr txBox="true"/>
          <p:nvPr/>
        </p:nvSpPr>
        <p:spPr>
          <a:xfrm flipH="false" flipV="false" rot="0">
            <a:off x="8363984" y="5783461"/>
            <a:ext cx="3129669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21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30s</a:t>
            </a:r>
            <a:r>
              <a:rPr b="true" i="false" strike="noStrike" sz="1000">
                <a:ln/>
                <a:solidFill>
                  <a:srgbClr val="5B8CB8">
                    <a:alpha val="54901"/>
                  </a:srgbClr>
                </a:solidFill>
                <a:latin typeface="Inter"/>
                <a:ea typeface="Inter"/>
                <a:cs typeface="Inter"/>
              </a:rPr>
              <a:t>/千条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Core Innovation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核心创新：RLCA 两阶段标注法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2954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335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RLCA（Rule-LLM Cascade Annotation）通过'规则初筛→LLM复核→三星补漏→人工抽检'四步级联，以极低成本从十万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条评论中提取1257条高质量音质差评正例，解决了极端类别不平衡下的标注难题。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078236"/>
            <a:ext cx="11274781" cy="9525"/>
          </a:xfrm>
          <a:prstGeom prst="rect">
            <a:avLst/>
          </a:prstGeom>
          <a:solidFill>
            <a:srgbClr val="C5CDD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457086" y="2240161"/>
            <a:ext cx="5570732" cy="201364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240161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638015" y="2939951"/>
            <a:ext cx="290292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1018920" y="2930426"/>
            <a:ext cx="4236970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规则初筛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1018920" y="3198019"/>
            <a:ext cx="4236970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基于声学关键词单词边界匹配与评分阈值，从10万条评论中召回候选正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例，实现高覆盖率的粗粒度筛选</a:t>
            </a:r>
            <a:endParaRPr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5370162" y="2930426"/>
            <a:ext cx="52434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1,502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6161134" y="2240161"/>
            <a:ext cx="5570732" cy="201364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6161134" y="2240161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6342064" y="3043238"/>
            <a:ext cx="290292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6722969" y="3033712"/>
            <a:ext cx="4173586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LLM 语义复核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6722969" y="3301305"/>
            <a:ext cx="417358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调用大模型对候选逐条验证，有效过滤关键词误触发的假阳性样本</a:t>
            </a:r>
            <a:endParaRPr lang="en-US" sz="1100"/>
          </a:p>
        </p:txBody>
      </p:sp>
      <p:sp>
        <p:nvSpPr>
          <p:cNvPr id="19" name="TextBox 19"/>
          <p:cNvSpPr txBox="true"/>
          <p:nvPr/>
        </p:nvSpPr>
        <p:spPr>
          <a:xfrm flipH="false" flipV="false" rot="0">
            <a:off x="11010825" y="3033712"/>
            <a:ext cx="587724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51.8%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457086" y="4387155"/>
            <a:ext cx="5570732" cy="201364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 flipH="false" flipV="false" rot="0">
            <a:off x="457086" y="4387155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true"/>
          <p:nvPr/>
        </p:nvSpPr>
        <p:spPr>
          <a:xfrm flipH="false" flipV="false" rot="0">
            <a:off x="638015" y="5086946"/>
            <a:ext cx="290292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23" name="TextBox 23"/>
          <p:cNvSpPr txBox="true"/>
          <p:nvPr/>
        </p:nvSpPr>
        <p:spPr>
          <a:xfrm flipH="false" flipV="false" rot="0">
            <a:off x="1018920" y="5077421"/>
            <a:ext cx="4395879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三星补漏复核</a:t>
            </a:r>
            <a:endParaRPr lang="en-US" sz="1100"/>
          </a:p>
        </p:txBody>
      </p:sp>
      <p:sp>
        <p:nvSpPr>
          <p:cNvPr id="24" name="TextBox 24"/>
          <p:cNvSpPr txBox="true"/>
          <p:nvPr/>
        </p:nvSpPr>
        <p:spPr>
          <a:xfrm flipH="false" flipV="false" rot="0">
            <a:off x="1018920" y="5345013"/>
            <a:ext cx="439587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针对1,271条三星级评论二次复核，额外确认漏检正例，填补传统规则的最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大盲区</a:t>
            </a:r>
            <a:endParaRPr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5529071" y="5077421"/>
            <a:ext cx="36543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479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 flipH="false" flipV="false" rot="0">
            <a:off x="6161134" y="4387155"/>
            <a:ext cx="5570732" cy="201364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 flipH="false" flipV="false" rot="0">
            <a:off x="6161134" y="4387155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Box 28"/>
          <p:cNvSpPr txBox="true"/>
          <p:nvPr/>
        </p:nvSpPr>
        <p:spPr>
          <a:xfrm flipH="false" flipV="false" rot="0">
            <a:off x="6342064" y="5190232"/>
            <a:ext cx="290292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lang="en-US" sz="1100"/>
          </a:p>
        </p:txBody>
      </p:sp>
      <p:sp>
        <p:nvSpPr>
          <p:cNvPr id="29" name="TextBox 29"/>
          <p:cNvSpPr txBox="true"/>
          <p:nvPr/>
        </p:nvSpPr>
        <p:spPr>
          <a:xfrm flipH="false" flipV="false" rot="0">
            <a:off x="6722969" y="5180707"/>
            <a:ext cx="4332495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人工抽检验证</a:t>
            </a:r>
            <a:endParaRPr lang="en-US" sz="1100"/>
          </a:p>
        </p:txBody>
      </p:sp>
      <p:sp>
        <p:nvSpPr>
          <p:cNvPr id="30" name="TextBox 30"/>
          <p:cNvSpPr txBox="true"/>
          <p:nvPr/>
        </p:nvSpPr>
        <p:spPr>
          <a:xfrm flipH="false" flipV="false" rot="0">
            <a:off x="6722969" y="5448300"/>
            <a:ext cx="433249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随机抽取50条人工判定，高置信样本471条、中置信8条，质量分层可控</a:t>
            </a:r>
            <a:endParaRPr lang="en-US" sz="1100"/>
          </a:p>
        </p:txBody>
      </p:sp>
      <p:sp>
        <p:nvSpPr>
          <p:cNvPr id="31" name="TextBox 31"/>
          <p:cNvSpPr txBox="true"/>
          <p:nvPr/>
        </p:nvSpPr>
        <p:spPr>
          <a:xfrm flipH="false" flipV="false" rot="0">
            <a:off x="11169734" y="5180707"/>
            <a:ext cx="428816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78%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MODEL PERFORMANCE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多标签归因：五类音质问题定位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52550"/>
            <a:ext cx="9522" cy="324743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90650"/>
            <a:ext cx="1115098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杂音与音量识别效果最优（F1=0.84），高音因样本稀缺（仅84条）为已知局限，宏F1达0.6481</a:t>
            </a:r>
            <a:endParaRPr lang="en-US" sz="1100"/>
          </a:p>
        </p:txBody>
      </p:sp>
      <p:sp>
        <p:nvSpPr>
          <p:cNvPr id="7" name="TextBox 7"/>
          <p:cNvSpPr txBox="true"/>
          <p:nvPr/>
        </p:nvSpPr>
        <p:spPr>
          <a:xfrm flipH="false" flipV="false" rot="0">
            <a:off x="457086" y="1886843"/>
            <a:ext cx="1127478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多标签归因模型覆盖五个维度，宏F1达0.6481，为卖家提供完整的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问题定位链路。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469653"/>
            <a:ext cx="4539016" cy="1253282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469653"/>
            <a:ext cx="4539016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628493" y="2842023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4901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861499" y="2851546"/>
            <a:ext cx="3491974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最优维度：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杂音与音量归因效果最优，F1 均达 0.84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861499" y="3106787"/>
            <a:ext cx="345388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0.84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457086" y="3818185"/>
            <a:ext cx="4539016" cy="1243757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 flipH="false" flipV="false" rot="0">
            <a:off x="457086" y="3818185"/>
            <a:ext cx="4539016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Box 15"/>
          <p:cNvSpPr txBox="true"/>
          <p:nvPr/>
        </p:nvSpPr>
        <p:spPr>
          <a:xfrm flipH="false" flipV="false" rot="0">
            <a:off x="628493" y="4227612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4901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861499" y="4237137"/>
            <a:ext cx="3991911" cy="3981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稳定维度：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低音 F1=0.79，清晰度 F1=0.77，模型表现均衡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稳定</a:t>
            </a:r>
            <a:endParaRPr/>
          </a:p>
        </p:txBody>
      </p:sp>
      <p:sp>
        <p:nvSpPr>
          <p:cNvPr id="17" name="AutoShape 17"/>
          <p:cNvSpPr/>
          <p:nvPr/>
        </p:nvSpPr>
        <p:spPr>
          <a:xfrm flipH="false" flipV="false" rot="0">
            <a:off x="457086" y="5157192"/>
            <a:ext cx="4539016" cy="1243757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 flipH="false" flipV="false" rot="0">
            <a:off x="457086" y="5157192"/>
            <a:ext cx="4539016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628493" y="5470028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4901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20" name="TextBox 20"/>
          <p:cNvSpPr txBox="true"/>
          <p:nvPr/>
        </p:nvSpPr>
        <p:spPr>
          <a:xfrm flipH="false" flipV="false" rot="0">
            <a:off x="861499" y="5479553"/>
            <a:ext cx="3963195" cy="3981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已知局限：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高音样本仅 84 条，与清晰度语义重叠，导致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F1=0</a:t>
            </a:r>
            <a:endParaRPr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861499" y="5970984"/>
            <a:ext cx="3963195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LIMITATION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 flipH="false" flipV="false" rot="0">
            <a:off x="5377006" y="1848743"/>
            <a:ext cx="6354860" cy="455205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 flipH="false" flipV="false" rot="0">
            <a:off x="5377006" y="1848743"/>
            <a:ext cx="635486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Box 24"/>
          <p:cNvSpPr txBox="true"/>
          <p:nvPr/>
        </p:nvSpPr>
        <p:spPr>
          <a:xfrm flipH="false" flipV="false" rot="0">
            <a:off x="6534153" y="2105918"/>
            <a:ext cx="4040566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五类音质问题归因 F1 分数</a:t>
            </a:r>
            <a:endParaRPr lang="en-US" sz="1100"/>
          </a:p>
        </p:txBody>
      </p:sp>
      <p:graphicFrame>
        <p:nvGraphicFramePr>
          <p:cNvPr id="25" name="Chart 25"/>
          <p:cNvGraphicFramePr>
            <a:graphicFrameLocks noGrp="true"/>
          </p:cNvGraphicFramePr>
          <p:nvPr/>
        </p:nvGraphicFramePr>
        <p:xfrm>
          <a:off x="5615071" y="2544068"/>
          <a:ext cx="5878730" cy="3332857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25" name="TextBox 25"/>
          <p:cNvSpPr txBox="true"/>
          <p:nvPr/>
        </p:nvSpPr>
        <p:spPr>
          <a:xfrm flipH="false" flipV="false" rot="0">
            <a:off x="6452913" y="5991225"/>
            <a:ext cx="4203046" cy="1714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数据来源：SoundInsight 多标签归因模型评估结果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5603169" y="2513707"/>
            <a:ext cx="658578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F1F3F5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03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560073" y="2999482"/>
            <a:ext cx="9068806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实验验证与统计检验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1809298" y="4058543"/>
            <a:ext cx="8570358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500">
                <a:ln/>
                <a:solidFill>
                  <a:srgbClr val="F1F3F5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用严格的交叉验证、显著性检验和消融实验证明技术可靠性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Model Evaluation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核心性能指标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525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906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DistilBERT模型在固定验证集（20,000条）上取得F1=0.6871、召回率71.3%，5折交叉验证波动率仅3.9%。阈值0.97在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F1上取得最优平衡，同时支持卖家按业务需求自定义，体现灵活性而非单向保守。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192536"/>
            <a:ext cx="3605799" cy="4208264"/>
          </a:xfrm>
          <a:prstGeom prst="rect">
            <a:avLst/>
          </a:prstGeom>
          <a:solidFill>
            <a:srgbClr val="E6EAEE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457086" y="21925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Box 9"/>
          <p:cNvSpPr txBox="true"/>
          <p:nvPr/>
        </p:nvSpPr>
        <p:spPr>
          <a:xfrm flipH="false" flipV="false" rot="0">
            <a:off x="695151" y="2506861"/>
            <a:ext cx="312966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F1 Score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695151" y="2802136"/>
            <a:ext cx="3129669" cy="504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600">
                <a:ln/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0.6871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695151" y="4141589"/>
            <a:ext cx="3367734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阈值0.97下的最优F1分数，同档精确率66.3%、召回率71.3%，是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帕累托平衡点，确保极少漏掉真</a:t>
            </a:r>
            <a:endParaRPr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实音质问题的同时控制误报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695151" y="5821709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true"/>
          <p:nvPr/>
        </p:nvSpPr>
        <p:spPr>
          <a:xfrm flipH="false" flipV="false" rot="0">
            <a:off x="695151" y="5964584"/>
            <a:ext cx="312966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Pareto Optimal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4291428" y="2192536"/>
            <a:ext cx="3605948" cy="4208264"/>
          </a:xfrm>
          <a:prstGeom prst="rect">
            <a:avLst/>
          </a:prstGeom>
          <a:solidFill>
            <a:srgbClr val="E6EAEE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4291428" y="2192536"/>
            <a:ext cx="360594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4529493" y="2506861"/>
            <a:ext cx="312981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Recall Rate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4529493" y="2802136"/>
            <a:ext cx="3129817" cy="504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600">
                <a:ln/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89.6</a:t>
            </a:r>
            <a:r>
              <a:rPr b="true" i="false" strike="noStrike" sz="2100">
                <a:ln/>
                <a:solidFill>
                  <a:srgbClr val="0A1F3D">
                    <a:alpha val="54901"/>
                  </a:srgbClr>
                </a:solidFill>
                <a:latin typeface="Inter"/>
                <a:ea typeface="Inter"/>
                <a:cs typeface="Inter"/>
              </a:rPr>
              <a:t>%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4529493" y="4141589"/>
            <a:ext cx="3129817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近九成音质差评被成功识别（阈值 0.5 档），混淆矩阵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TP=225、FN=26，仅漏检26条，对卖家而</a:t>
            </a:r>
            <a:endParaRPr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言"不漏查"远比"不误报"重要</a:t>
            </a:r>
            <a:endParaRPr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4529493" y="5821709"/>
            <a:ext cx="3129817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true"/>
          <p:nvPr/>
        </p:nvSpPr>
        <p:spPr>
          <a:xfrm flipH="false" flipV="false" rot="0">
            <a:off x="4529493" y="5964584"/>
            <a:ext cx="312981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TP 225 · FN 26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 flipH="false" flipV="false" rot="0">
            <a:off x="8125918" y="2192536"/>
            <a:ext cx="3605799" cy="4208264"/>
          </a:xfrm>
          <a:prstGeom prst="rect">
            <a:avLst/>
          </a:prstGeom>
          <a:solidFill>
            <a:srgbClr val="E6EAEE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 flipH="false" flipV="false" rot="0">
            <a:off x="8125918" y="21925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Box 23"/>
          <p:cNvSpPr txBox="true"/>
          <p:nvPr/>
        </p:nvSpPr>
        <p:spPr>
          <a:xfrm flipH="false" flipV="false" rot="0">
            <a:off x="8363984" y="2506861"/>
            <a:ext cx="312966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5-Fold CV</a:t>
            </a:r>
            <a:endParaRPr lang="en-US" sz="1100"/>
          </a:p>
        </p:txBody>
      </p:sp>
      <p:sp>
        <p:nvSpPr>
          <p:cNvPr id="24" name="TextBox 24"/>
          <p:cNvSpPr txBox="true"/>
          <p:nvPr/>
        </p:nvSpPr>
        <p:spPr>
          <a:xfrm flipH="false" flipV="false" rot="0">
            <a:off x="8363984" y="2802136"/>
            <a:ext cx="3129669" cy="4667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300">
                <a:ln/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0.6234</a:t>
            </a:r>
            <a:r>
              <a:rPr b="true" i="false" strike="noStrike" sz="1500">
                <a:ln/>
                <a:solidFill>
                  <a:srgbClr val="0A1F3D">
                    <a:alpha val="54901"/>
                  </a:srgbClr>
                </a:solidFill>
                <a:latin typeface="Inter"/>
                <a:ea typeface="Inter"/>
                <a:cs typeface="Inter"/>
              </a:rPr>
              <a:t> ±0.024</a:t>
            </a:r>
            <a:endParaRPr lang="en-US" sz="1100"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8363984" y="4120604"/>
            <a:ext cx="3367734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五折交叉验证波动率仅3.9%，证明模型性能稳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定可靠，不存在数据划分导致的偶发性高分，</a:t>
            </a:r>
            <a:endParaRPr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具备生产部署的可信度</a:t>
            </a:r>
            <a:endParaRPr/>
          </a:p>
        </p:txBody>
      </p:sp>
      <p:sp>
        <p:nvSpPr>
          <p:cNvPr id="26" name="AutoShape 26"/>
          <p:cNvSpPr/>
          <p:nvPr/>
        </p:nvSpPr>
        <p:spPr>
          <a:xfrm flipH="false" flipV="false" rot="0">
            <a:off x="8363984" y="5821709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Box 27"/>
          <p:cNvSpPr txBox="true"/>
          <p:nvPr/>
        </p:nvSpPr>
        <p:spPr>
          <a:xfrm flipH="false" flipV="false" rot="0">
            <a:off x="8363984" y="5964584"/>
            <a:ext cx="312966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σ = 3.9%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Model Evaluation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基线对比与统计显著性检验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2763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144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DistilBERT（F1=0.687）相较SVM基线（F1=0.497）提升38.2%，Welch t检验p=0.000932远小于0.05，证明优势具有统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计显著性。PR曲线AUC-PR=0.7191，验证了模型在1:100极端类别不平衡下的有效性。</a:t>
            </a:r>
            <a:endParaRPr/>
          </a:p>
        </p:txBody>
      </p:sp>
      <p:sp>
        <p:nvSpPr>
          <p:cNvPr id="7" name="TextBox 7"/>
          <p:cNvSpPr txBox="true"/>
          <p:nvPr/>
        </p:nvSpPr>
        <p:spPr>
          <a:xfrm flipH="false" flipV="false" rot="0">
            <a:off x="457086" y="2087761"/>
            <a:ext cx="1127478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基线方法性能对比（清洗标签）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true"/>
          </p:cNvGraphicFramePr>
          <p:nvPr/>
        </p:nvGraphicFramePr>
        <p:xfrm>
          <a:off x="457086" y="2445841"/>
          <a:ext cx="11274781" cy="2505075"/>
        </p:xfrm>
        <a:graphic>
          <a:graphicData uri="http://schemas.openxmlformats.org/drawingml/2006/table">
            <a:tbl>
              <a:tblPr/>
              <a:tblGrid>
                <a:gridCol w="3149600"/>
                <a:gridCol w="2476500"/>
                <a:gridCol w="5626100"/>
              </a:tblGrid>
              <a:tr h="457200">
                <a:tc gridSpan="1" rowSpan="1">
                  <a:txBody>
                    <a:bodyPr anchor="ctr" anchorCtr="false" bIns="114300" lIns="171450" rIns="171450" rot="0" tIns="11430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方法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14300" lIns="171450" rIns="171450" rot="0" tIns="114300" vert="horz" wrap="square"/>
                    <a:p>
                      <a:pPr algn="ctr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调优 F1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false" bIns="114300" lIns="171450" rIns="171450" rot="0" tIns="11430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关键说明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5080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全判正常（Baseline）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0.025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极端不平衡下的最低基线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</a:tr>
              <a:tr h="4953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TF-IDF + 逻辑回归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0.410 ± 0.022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传统机器学习代表性方法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</a:tr>
              <a:tr h="4953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TF-IDF + 线性 SVM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0.497 ± 0.017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传统方法最优，作为统计检验对照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</a:tr>
              <a:tr h="5080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■</a:t>
                      </a: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 DistilBERT（本方案）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2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0.687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p=0.000932，显著优于SVM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9"/>
          <p:cNvSpPr txBox="true"/>
          <p:nvPr/>
        </p:nvSpPr>
        <p:spPr>
          <a:xfrm flipH="false" flipV="false" rot="0">
            <a:off x="457086" y="5084266"/>
            <a:ext cx="1127478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5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DistilBERT以F1=0.687显著超越所有传统基线，Welch t检验确认统计显著性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Ablation Study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消融实验：排除三条错误路径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71600"/>
            <a:ext cx="9522" cy="324743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99925" y="1409700"/>
            <a:ext cx="1113194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四组消融排除三条错误路径，锁定1:10欠采样+交叉熵为帕累托最优——简单精准的采样胜过复杂损失改造。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true"/>
          </p:cNvGraphicFramePr>
          <p:nvPr/>
        </p:nvGraphicFramePr>
        <p:xfrm>
          <a:off x="457086" y="2648397"/>
          <a:ext cx="11274781" cy="2676525"/>
        </p:xfrm>
        <a:graphic>
          <a:graphicData uri="http://schemas.openxmlformats.org/drawingml/2006/table">
            <a:tbl>
              <a:tblPr/>
              <a:tblGrid>
                <a:gridCol w="1117600"/>
                <a:gridCol w="2705100"/>
                <a:gridCol w="1460500"/>
                <a:gridCol w="5969000"/>
              </a:tblGrid>
              <a:tr h="495300">
                <a:tc gridSpan="1" rowSpan="1">
                  <a:txBody>
                    <a:bodyPr anchor="ctr" anchorCtr="false" bIns="133350" lIns="152400" rIns="152400" rot="0" tIns="13335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实验组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false" bIns="133350" lIns="152400" rIns="152400" rot="0" tIns="13335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策略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52400" rIns="152400" rot="0" tIns="133350" vert="horz" wrap="square"/>
                    <a:p>
                      <a:pPr algn="ctr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调优 F1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false" bIns="133350" lIns="152400" rIns="152400" rot="0" tIns="13335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核心结论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546100"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70196"/>
                            </a:srgbClr>
                          </a:solidFill>
                          <a:latin typeface="Inter"/>
                          <a:ea typeface="Inter"/>
                          <a:cs typeface="Inter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70196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A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无采样（全量10万负例）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52400" lIns="152400" rIns="152400" rot="0" tIns="152400" vert="horz" wrap="square"/>
                    <a:p>
                      <a:pPr algn="ctr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0.6486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Recall 仅 53%，漏掉一半差评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533400"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70196"/>
                            </a:srgbClr>
                          </a:solidFill>
                          <a:latin typeface="Inter"/>
                          <a:ea typeface="Inter"/>
                          <a:cs typeface="Inter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70196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B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class_weight 平衡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52400" lIns="152400" rIns="152400" rot="0" tIns="152400" vert="horz" wrap="square"/>
                    <a:p>
                      <a:pPr algn="ctr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0.6304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Precision 崩至 35.5%，误报过多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533400"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70196"/>
                            </a:srgbClr>
                          </a:solidFill>
                          <a:latin typeface="Inter"/>
                          <a:ea typeface="Inter"/>
                          <a:cs typeface="Inter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70196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C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Focal Loss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52400" lIns="152400" rIns="152400" rot="0" tIns="152400" vert="horz" wrap="square"/>
                    <a:p>
                      <a:pPr algn="ctr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0.6423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调优后不如标准交叉熵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533400"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最终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1:10 欠采样 + 交叉熵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52400" lIns="152400" rIns="152400" rot="0" tIns="152400" vert="horz" wrap="square"/>
                    <a:p>
                      <a:pPr algn="ctr">
                        <a:defRPr b="true" i="false" strike="noStrike" sz="12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0.6871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false" bIns="152400" lIns="152400" rIns="152400" rot="0" tIns="152400" vert="horz" wrap="square"/>
                    <a:p>
                      <a:pPr algn="l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调优 F1 为阈值 0.97 档；0.5 档召回 89.6%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 txBox="true"/>
          <p:nvPr/>
        </p:nvSpPr>
        <p:spPr>
          <a:xfrm flipH="false" flipV="false" rot="0">
            <a:off x="7430470" y="5496372"/>
            <a:ext cx="430139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r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5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1:10 欠采样 + 交叉熵方案在 F1、Recall、Precision 三维度取得最优平衡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5638283" y="2558951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04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560073" y="2992338"/>
            <a:ext cx="9068806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商业价值与竞品对比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1790550" y="4013299"/>
            <a:ext cx="8607852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500">
                <a:ln/>
                <a:solidFill>
                  <a:srgbClr val="F1F3F5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从功能差异化到成本效益，量化 SoundInsight 的商业竞争力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COMPETITIVE ANALYSIS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竞品功能对比：专为音质而生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2763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144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Helium 10与Jungle Scout仅提供通用情感分析，无法识别声学维度的音质问题。SoundInsight在音质专项识别与五类归因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上实现从0到1的突破，以零API成本与30秒/千条效率形成壁垒。</a:t>
            </a:r>
            <a:endParaRPr/>
          </a:p>
        </p:txBody>
      </p:sp>
      <p:graphicFrame>
        <p:nvGraphicFramePr>
          <p:cNvPr id="7" name="Table 7"/>
          <p:cNvGraphicFramePr>
            <a:graphicFrameLocks noGrp="true"/>
          </p:cNvGraphicFramePr>
          <p:nvPr/>
        </p:nvGraphicFramePr>
        <p:xfrm>
          <a:off x="457086" y="2097286"/>
          <a:ext cx="11274781" cy="3524250"/>
        </p:xfrm>
        <a:graphic>
          <a:graphicData uri="http://schemas.openxmlformats.org/drawingml/2006/table">
            <a:tbl>
              <a:tblPr/>
              <a:tblGrid>
                <a:gridCol w="3149600"/>
                <a:gridCol w="2247900"/>
                <a:gridCol w="2247900"/>
                <a:gridCol w="3606800"/>
              </a:tblGrid>
              <a:tr h="482600">
                <a:tc gridSpan="1" rowSpan="1">
                  <a:txBody>
                    <a:bodyPr anchor="ctr" anchorCtr="false" bIns="133350" lIns="114300" rIns="114300" rot="0" tIns="13335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功能维度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14300" rIns="114300" rot="0" tIns="133350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Helium 10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14300" rIns="114300" rot="0" tIns="133350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Jungle Scout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14300" rIns="114300" rot="0" tIns="133350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SoundInsight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431800">
                <a:tc gridSpan="1" rowSpan="1">
                  <a:txBody>
                    <a:bodyPr anchor="ctr" anchorCtr="false" bIns="104775" lIns="114300" rIns="11430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通用评论情感分析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✅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✅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✅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31800">
                <a:tc gridSpan="1" rowSpan="1">
                  <a:txBody>
                    <a:bodyPr anchor="ctr" anchorCtr="false" bIns="104775" lIns="114300" rIns="114300" rot="0" tIns="104775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音质专项识别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❌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❌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✅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431800">
                <a:tc gridSpan="1" rowSpan="1">
                  <a:txBody>
                    <a:bodyPr anchor="ctr" anchorCtr="false" bIns="104775" lIns="114300" rIns="114300" rot="0" tIns="104775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五类问题归因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❌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❌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✅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31800">
                <a:tc gridSpan="1" rowSpan="1">
                  <a:txBody>
                    <a:bodyPr anchor="ctr" anchorCtr="false" bIns="104775" lIns="114300" rIns="11430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中文界面支持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❌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❌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✅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431800">
                <a:tc gridSpan="1" rowSpan="1">
                  <a:txBody>
                    <a:bodyPr anchor="ctr" anchorCtr="false" bIns="104775" lIns="114300" rIns="114300" rot="0" tIns="104775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本地推理 / 零API成本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❌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27843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❌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✅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31800">
                <a:tc gridSpan="1" rowSpan="1">
                  <a:txBody>
                    <a:bodyPr anchor="ctr" anchorCtr="false" bIns="104775" lIns="114300" rIns="11430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月费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"$39+"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"$49+"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开源免费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419100">
                <a:tc gridSpan="1" rowSpan="1">
                  <a:txBody>
                    <a:bodyPr anchor="ctr" anchorCtr="false" bIns="104775" lIns="114300" rIns="11430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处理1000条评论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依赖云端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依赖云端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04775" lIns="114300" rIns="114300" rot="0" tIns="104775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30秒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8"/>
          <p:cNvSpPr txBox="true"/>
          <p:nvPr/>
        </p:nvSpPr>
        <p:spPr>
          <a:xfrm flipH="false" flipV="false" rot="0">
            <a:off x="457086" y="624840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196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SoundInsight 在音质专项识别与五类归因上实现差异化突破，且成本为零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Cost Efficiency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成本效益测算：效率提升 &gt;99.9%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335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99925" y="137160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以处理1000条评论为例，SoundInsight将时间从8小时压缩至约2秒(GPU实测)（提升&gt;99.9%），成本从240元降至0元（提升100%），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同时以89.6%的量化召回率替代依赖经验的人工判断，并新增五类问题自动归因能力。</a:t>
            </a:r>
            <a:endParaRPr/>
          </a:p>
        </p:txBody>
      </p:sp>
      <p:graphicFrame>
        <p:nvGraphicFramePr>
          <p:cNvPr id="7" name="Table 7"/>
          <p:cNvGraphicFramePr>
            <a:graphicFrameLocks noGrp="true"/>
          </p:cNvGraphicFramePr>
          <p:nvPr/>
        </p:nvGraphicFramePr>
        <p:xfrm>
          <a:off x="457086" y="2192536"/>
          <a:ext cx="11274781" cy="2580084"/>
        </p:xfrm>
        <a:graphic>
          <a:graphicData uri="http://schemas.openxmlformats.org/drawingml/2006/table">
            <a:tbl>
              <a:tblPr/>
              <a:tblGrid>
                <a:gridCol w="2844800"/>
                <a:gridCol w="3149600"/>
                <a:gridCol w="3314700"/>
                <a:gridCol w="1943100"/>
              </a:tblGrid>
              <a:tr h="4826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指标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人工分析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SoundInsight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提升幅度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5207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时间成本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8 小时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约 2 秒(GPU实测)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&gt;99.9% ↓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</a:tr>
              <a:tr h="5080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金钱成本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240 元（30元/h）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0 元（本地GPU）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100% ↓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</a:tr>
              <a:tr h="5080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音质差评召回率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依赖经验，易遗漏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89.6%（阈值 0.5 档）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从 0 到 1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</a:tr>
              <a:tr h="508000">
                <a:tc gridSpan="1" rowSpan="1">
                  <a:txBody>
                    <a:bodyPr anchor="ctr" anchorCtr="false" bIns="133350" lIns="171450" rIns="171450" rot="0" tIns="133350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问题归因能力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无法系统分类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2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五类自动归因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ctr" anchorCtr="true" bIns="133350" lIns="171450" rIns="171450" rot="0" tIns="133350" vert="horz" wrap="square"/>
                    <a:p>
                      <a:pPr algn="ctr">
                        <a:def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从无到有</a:t>
                      </a:r>
                      <a:endParaRPr/>
                    </a:p>
                  </a:txBody>
                  <a:tcPr>
                    <a:lnL w="25400">
                      <a:solidFill>
                        <a:srgbClr val="0A1F3D">
                          <a:alpha val="100000"/>
                        </a:srgbClr>
                      </a:solidFill>
                    </a:lnL>
                    <a:lnR w="25400">
                      <a:solidFill>
                        <a:srgbClr val="0A1F3D">
                          <a:alpha val="100000"/>
                        </a:srgbClr>
                      </a:solidFill>
                    </a:lnR>
                    <a:lnT w="25400">
                      <a:solidFill>
                        <a:srgbClr val="0A1F3D">
                          <a:alpha val="100000"/>
                        </a:srgbClr>
                      </a:solidFill>
                    </a:lnT>
                    <a:lnB w="25400">
                      <a:solidFill>
                        <a:srgbClr val="0A1F3D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 flipH="false" flipV="false" rot="0">
            <a:off x="457086" y="4944071"/>
            <a:ext cx="2675856" cy="145672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4944071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652894" y="5577185"/>
            <a:ext cx="209498" cy="2095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5499" y="2500"/>
                </a:moveTo>
                <a:lnTo>
                  <a:pt x="5499" y="5000"/>
                </a:lnTo>
                <a:lnTo>
                  <a:pt x="7499" y="5000"/>
                </a:lnTo>
                <a:lnTo>
                  <a:pt x="7499" y="6000"/>
                </a:lnTo>
                <a:lnTo>
                  <a:pt x="4499" y="6000"/>
                </a:lnTo>
                <a:lnTo>
                  <a:pt x="4499" y="2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991542" y="5482382"/>
            <a:ext cx="963124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Time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991542" y="5652790"/>
            <a:ext cx="101073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8h → ~2s (GPU)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3323394" y="4944071"/>
            <a:ext cx="2675856" cy="145672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 flipH="false" flipV="false" rot="0">
            <a:off x="3323394" y="4944071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3519203" y="5577185"/>
            <a:ext cx="209498" cy="2095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5499" y="5000"/>
                </a:moveTo>
                <a:lnTo>
                  <a:pt x="5499" y="5500"/>
                </a:lnTo>
                <a:lnTo>
                  <a:pt x="6999" y="5500"/>
                </a:lnTo>
                <a:lnTo>
                  <a:pt x="6999" y="6500"/>
                </a:lnTo>
                <a:lnTo>
                  <a:pt x="5499" y="6500"/>
                </a:lnTo>
                <a:lnTo>
                  <a:pt x="5499" y="7500"/>
                </a:lnTo>
                <a:lnTo>
                  <a:pt x="4499" y="7500"/>
                </a:lnTo>
                <a:lnTo>
                  <a:pt x="4499" y="6500"/>
                </a:lnTo>
                <a:lnTo>
                  <a:pt x="2999" y="6500"/>
                </a:lnTo>
                <a:lnTo>
                  <a:pt x="2999" y="5500"/>
                </a:lnTo>
                <a:lnTo>
                  <a:pt x="4499" y="5500"/>
                </a:lnTo>
                <a:lnTo>
                  <a:pt x="4499" y="5000"/>
                </a:lnTo>
                <a:lnTo>
                  <a:pt x="2999" y="5000"/>
                </a:lnTo>
                <a:lnTo>
                  <a:pt x="2999" y="4000"/>
                </a:lnTo>
                <a:lnTo>
                  <a:pt x="4289" y="4000"/>
                </a:lnTo>
                <a:lnTo>
                  <a:pt x="3229" y="2940"/>
                </a:lnTo>
                <a:lnTo>
                  <a:pt x="3939" y="2230"/>
                </a:lnTo>
                <a:lnTo>
                  <a:pt x="4999" y="3290"/>
                </a:lnTo>
                <a:lnTo>
                  <a:pt x="6059" y="2230"/>
                </a:lnTo>
                <a:lnTo>
                  <a:pt x="6769" y="2940"/>
                </a:lnTo>
                <a:lnTo>
                  <a:pt x="5709" y="4000"/>
                </a:lnTo>
                <a:lnTo>
                  <a:pt x="6999" y="4000"/>
                </a:lnTo>
                <a:lnTo>
                  <a:pt x="6999" y="5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3857851" y="5482382"/>
            <a:ext cx="960297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Cost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3857851" y="5652790"/>
            <a:ext cx="100791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240 → 0 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6189702" y="4944071"/>
            <a:ext cx="2675856" cy="145672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 flipH="false" flipV="false" rot="0">
            <a:off x="6189702" y="4944071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 flipH="false" flipV="false" rot="0">
            <a:off x="6385510" y="5577185"/>
            <a:ext cx="209498" cy="209550"/>
          </a:xfrm>
          <a:custGeom>
            <a:rect b="b" l="l" r="r" t="t"/>
            <a:pathLst>
              <a:path h="10000" w="9998">
                <a:moveTo>
                  <a:pt x="7892" y="7195"/>
                </a:moveTo>
                <a:lnTo>
                  <a:pt x="9998" y="9301"/>
                </a:lnTo>
                <a:lnTo>
                  <a:pt x="9299" y="10000"/>
                </a:lnTo>
                <a:lnTo>
                  <a:pt x="7193" y="7894"/>
                </a:lnTo>
                <a:cubicBezTo>
                  <a:pt x="6806" y="8202"/>
                  <a:pt x="6383" y="8438"/>
                  <a:pt x="5924" y="8602"/>
                </a:cubicBezTo>
                <a:cubicBezTo>
                  <a:pt x="5438" y="8772"/>
                  <a:pt x="4940" y="8858"/>
                  <a:pt x="4428" y="8858"/>
                </a:cubicBezTo>
                <a:cubicBezTo>
                  <a:pt x="3628" y="8858"/>
                  <a:pt x="2883" y="8658"/>
                  <a:pt x="2194" y="8258"/>
                </a:cubicBezTo>
                <a:cubicBezTo>
                  <a:pt x="1525" y="7864"/>
                  <a:pt x="997" y="7332"/>
                  <a:pt x="610" y="6663"/>
                </a:cubicBezTo>
                <a:cubicBezTo>
                  <a:pt x="203" y="5974"/>
                  <a:pt x="0" y="5229"/>
                  <a:pt x="0" y="4429"/>
                </a:cubicBezTo>
                <a:cubicBezTo>
                  <a:pt x="0" y="3628"/>
                  <a:pt x="203" y="2883"/>
                  <a:pt x="610" y="2195"/>
                </a:cubicBezTo>
                <a:cubicBezTo>
                  <a:pt x="997" y="1525"/>
                  <a:pt x="1525" y="997"/>
                  <a:pt x="2194" y="610"/>
                </a:cubicBezTo>
                <a:cubicBezTo>
                  <a:pt x="2883" y="203"/>
                  <a:pt x="3628" y="0"/>
                  <a:pt x="4428" y="0"/>
                </a:cubicBezTo>
                <a:cubicBezTo>
                  <a:pt x="5228" y="0"/>
                  <a:pt x="5973" y="203"/>
                  <a:pt x="6662" y="610"/>
                </a:cubicBezTo>
                <a:cubicBezTo>
                  <a:pt x="7331" y="997"/>
                  <a:pt x="7862" y="1525"/>
                  <a:pt x="8256" y="2195"/>
                </a:cubicBezTo>
                <a:cubicBezTo>
                  <a:pt x="8656" y="2883"/>
                  <a:pt x="8856" y="3628"/>
                  <a:pt x="8856" y="4429"/>
                </a:cubicBezTo>
                <a:cubicBezTo>
                  <a:pt x="8856" y="4941"/>
                  <a:pt x="8771" y="5439"/>
                  <a:pt x="8601" y="5925"/>
                </a:cubicBezTo>
                <a:cubicBezTo>
                  <a:pt x="8437" y="6384"/>
                  <a:pt x="8200" y="6807"/>
                  <a:pt x="7892" y="7195"/>
                </a:cubicBezTo>
                <a:moveTo>
                  <a:pt x="6829" y="6900"/>
                </a:moveTo>
                <a:lnTo>
                  <a:pt x="6898" y="6831"/>
                </a:lnTo>
                <a:cubicBezTo>
                  <a:pt x="7206" y="6515"/>
                  <a:pt x="7446" y="6154"/>
                  <a:pt x="7617" y="5748"/>
                </a:cubicBezTo>
                <a:cubicBezTo>
                  <a:pt x="7787" y="5328"/>
                  <a:pt x="7872" y="4888"/>
                  <a:pt x="7872" y="4429"/>
                </a:cubicBezTo>
                <a:cubicBezTo>
                  <a:pt x="7872" y="3805"/>
                  <a:pt x="7714" y="3225"/>
                  <a:pt x="7400" y="2687"/>
                </a:cubicBezTo>
                <a:cubicBezTo>
                  <a:pt x="7098" y="2168"/>
                  <a:pt x="6688" y="1758"/>
                  <a:pt x="6170" y="1457"/>
                </a:cubicBezTo>
                <a:cubicBezTo>
                  <a:pt x="5632" y="1141"/>
                  <a:pt x="5051" y="984"/>
                  <a:pt x="4428" y="984"/>
                </a:cubicBezTo>
                <a:cubicBezTo>
                  <a:pt x="3804" y="984"/>
                  <a:pt x="3224" y="1141"/>
                  <a:pt x="2686" y="1457"/>
                </a:cubicBezTo>
                <a:cubicBezTo>
                  <a:pt x="2168" y="1758"/>
                  <a:pt x="1758" y="2168"/>
                  <a:pt x="1456" y="2687"/>
                </a:cubicBezTo>
                <a:cubicBezTo>
                  <a:pt x="1141" y="3225"/>
                  <a:pt x="984" y="3805"/>
                  <a:pt x="984" y="4429"/>
                </a:cubicBezTo>
                <a:cubicBezTo>
                  <a:pt x="984" y="5052"/>
                  <a:pt x="1141" y="5633"/>
                  <a:pt x="1456" y="6171"/>
                </a:cubicBezTo>
                <a:cubicBezTo>
                  <a:pt x="1758" y="6689"/>
                  <a:pt x="2168" y="7100"/>
                  <a:pt x="2686" y="7402"/>
                </a:cubicBezTo>
                <a:cubicBezTo>
                  <a:pt x="3224" y="7716"/>
                  <a:pt x="3804" y="7874"/>
                  <a:pt x="4428" y="7874"/>
                </a:cubicBezTo>
                <a:cubicBezTo>
                  <a:pt x="4887" y="7874"/>
                  <a:pt x="5327" y="7788"/>
                  <a:pt x="5747" y="7618"/>
                </a:cubicBezTo>
                <a:cubicBezTo>
                  <a:pt x="6153" y="7447"/>
                  <a:pt x="6514" y="7208"/>
                  <a:pt x="6829" y="69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true"/>
          <p:nvPr/>
        </p:nvSpPr>
        <p:spPr>
          <a:xfrm flipH="false" flipV="false" rot="0">
            <a:off x="6724160" y="5482382"/>
            <a:ext cx="5548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Recall</a:t>
            </a:r>
            <a:endParaRPr lang="en-US" sz="1100"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6724160" y="5652790"/>
            <a:ext cx="587724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89.6%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 flipH="false" flipV="false" rot="0">
            <a:off x="9056011" y="4944071"/>
            <a:ext cx="2675856" cy="145672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 flipH="false" flipV="false" rot="0">
            <a:off x="9056011" y="4944071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 flipH="false" flipV="false" rot="0">
            <a:off x="9251819" y="5577185"/>
            <a:ext cx="209498" cy="209550"/>
          </a:xfrm>
          <a:custGeom>
            <a:rect b="b" l="l" r="r" t="t"/>
            <a:pathLst>
              <a:path h="10000" w="9998">
                <a:moveTo>
                  <a:pt x="555" y="0"/>
                </a:moveTo>
                <a:lnTo>
                  <a:pt x="3888" y="0"/>
                </a:lnTo>
                <a:cubicBezTo>
                  <a:pt x="4043" y="0"/>
                  <a:pt x="4174" y="48"/>
                  <a:pt x="4282" y="145"/>
                </a:cubicBezTo>
                <a:cubicBezTo>
                  <a:pt x="4390" y="241"/>
                  <a:pt x="4444" y="360"/>
                  <a:pt x="4444" y="500"/>
                </a:cubicBezTo>
                <a:lnTo>
                  <a:pt x="4444" y="2500"/>
                </a:lnTo>
                <a:cubicBezTo>
                  <a:pt x="4444" y="2640"/>
                  <a:pt x="4390" y="2758"/>
                  <a:pt x="4282" y="2855"/>
                </a:cubicBezTo>
                <a:cubicBezTo>
                  <a:pt x="4174" y="2951"/>
                  <a:pt x="4043" y="3000"/>
                  <a:pt x="3888" y="3000"/>
                </a:cubicBezTo>
                <a:lnTo>
                  <a:pt x="2777" y="3000"/>
                </a:lnTo>
                <a:lnTo>
                  <a:pt x="2777" y="4000"/>
                </a:lnTo>
                <a:lnTo>
                  <a:pt x="5554" y="4000"/>
                </a:lnTo>
                <a:lnTo>
                  <a:pt x="5554" y="3500"/>
                </a:lnTo>
                <a:cubicBezTo>
                  <a:pt x="5554" y="3360"/>
                  <a:pt x="5608" y="3241"/>
                  <a:pt x="5716" y="3145"/>
                </a:cubicBezTo>
                <a:cubicBezTo>
                  <a:pt x="5823" y="3048"/>
                  <a:pt x="5954" y="3000"/>
                  <a:pt x="6110" y="3000"/>
                </a:cubicBezTo>
                <a:lnTo>
                  <a:pt x="9443" y="3000"/>
                </a:lnTo>
                <a:cubicBezTo>
                  <a:pt x="9598" y="3000"/>
                  <a:pt x="9729" y="3048"/>
                  <a:pt x="9837" y="3145"/>
                </a:cubicBezTo>
                <a:cubicBezTo>
                  <a:pt x="9944" y="3241"/>
                  <a:pt x="9998" y="3360"/>
                  <a:pt x="9998" y="3500"/>
                </a:cubicBezTo>
                <a:lnTo>
                  <a:pt x="9998" y="5500"/>
                </a:lnTo>
                <a:cubicBezTo>
                  <a:pt x="9998" y="5640"/>
                  <a:pt x="9944" y="5758"/>
                  <a:pt x="9837" y="5855"/>
                </a:cubicBezTo>
                <a:cubicBezTo>
                  <a:pt x="9729" y="5951"/>
                  <a:pt x="9598" y="6000"/>
                  <a:pt x="9443" y="6000"/>
                </a:cubicBezTo>
                <a:lnTo>
                  <a:pt x="6110" y="6000"/>
                </a:lnTo>
                <a:cubicBezTo>
                  <a:pt x="5954" y="6000"/>
                  <a:pt x="5823" y="5951"/>
                  <a:pt x="5716" y="5855"/>
                </a:cubicBezTo>
                <a:cubicBezTo>
                  <a:pt x="5608" y="5758"/>
                  <a:pt x="5554" y="5640"/>
                  <a:pt x="5554" y="5500"/>
                </a:cubicBezTo>
                <a:lnTo>
                  <a:pt x="5554" y="5000"/>
                </a:lnTo>
                <a:lnTo>
                  <a:pt x="2777" y="5000"/>
                </a:lnTo>
                <a:lnTo>
                  <a:pt x="2777" y="8000"/>
                </a:lnTo>
                <a:lnTo>
                  <a:pt x="5554" y="8000"/>
                </a:lnTo>
                <a:lnTo>
                  <a:pt x="5554" y="7500"/>
                </a:lnTo>
                <a:cubicBezTo>
                  <a:pt x="5554" y="7360"/>
                  <a:pt x="5608" y="7241"/>
                  <a:pt x="5716" y="7145"/>
                </a:cubicBezTo>
                <a:cubicBezTo>
                  <a:pt x="5823" y="7048"/>
                  <a:pt x="5954" y="7000"/>
                  <a:pt x="6110" y="7000"/>
                </a:cubicBezTo>
                <a:lnTo>
                  <a:pt x="9443" y="7000"/>
                </a:lnTo>
                <a:cubicBezTo>
                  <a:pt x="9598" y="7000"/>
                  <a:pt x="9729" y="7048"/>
                  <a:pt x="9837" y="7145"/>
                </a:cubicBezTo>
                <a:cubicBezTo>
                  <a:pt x="9944" y="7241"/>
                  <a:pt x="9998" y="7360"/>
                  <a:pt x="9998" y="7500"/>
                </a:cubicBezTo>
                <a:lnTo>
                  <a:pt x="9998" y="9500"/>
                </a:lnTo>
                <a:cubicBezTo>
                  <a:pt x="9998" y="9640"/>
                  <a:pt x="9944" y="9758"/>
                  <a:pt x="9837" y="9855"/>
                </a:cubicBezTo>
                <a:cubicBezTo>
                  <a:pt x="9729" y="9951"/>
                  <a:pt x="9598" y="10000"/>
                  <a:pt x="9443" y="10000"/>
                </a:cubicBezTo>
                <a:lnTo>
                  <a:pt x="6110" y="10000"/>
                </a:lnTo>
                <a:cubicBezTo>
                  <a:pt x="5954" y="10000"/>
                  <a:pt x="5823" y="9951"/>
                  <a:pt x="5716" y="9855"/>
                </a:cubicBezTo>
                <a:cubicBezTo>
                  <a:pt x="5608" y="9758"/>
                  <a:pt x="5554" y="9640"/>
                  <a:pt x="5554" y="9500"/>
                </a:cubicBezTo>
                <a:lnTo>
                  <a:pt x="5554" y="9000"/>
                </a:lnTo>
                <a:lnTo>
                  <a:pt x="2222" y="9000"/>
                </a:lnTo>
                <a:cubicBezTo>
                  <a:pt x="2066" y="9000"/>
                  <a:pt x="1934" y="8951"/>
                  <a:pt x="1827" y="8855"/>
                </a:cubicBezTo>
                <a:cubicBezTo>
                  <a:pt x="1719" y="8758"/>
                  <a:pt x="1666" y="8640"/>
                  <a:pt x="1666" y="8500"/>
                </a:cubicBezTo>
                <a:lnTo>
                  <a:pt x="1666" y="3000"/>
                </a:lnTo>
                <a:lnTo>
                  <a:pt x="555" y="3000"/>
                </a:lnTo>
                <a:cubicBezTo>
                  <a:pt x="399" y="3000"/>
                  <a:pt x="268" y="2951"/>
                  <a:pt x="161" y="2855"/>
                </a:cubicBezTo>
                <a:cubicBezTo>
                  <a:pt x="53" y="2758"/>
                  <a:pt x="0" y="2640"/>
                  <a:pt x="0" y="2500"/>
                </a:cubicBezTo>
                <a:lnTo>
                  <a:pt x="0" y="500"/>
                </a:lnTo>
                <a:cubicBezTo>
                  <a:pt x="0" y="360"/>
                  <a:pt x="53" y="241"/>
                  <a:pt x="161" y="145"/>
                </a:cubicBezTo>
                <a:cubicBezTo>
                  <a:pt x="268" y="48"/>
                  <a:pt x="399" y="0"/>
                  <a:pt x="555" y="0"/>
                </a:cubicBezTo>
                <a:moveTo>
                  <a:pt x="8887" y="9000"/>
                </a:moveTo>
                <a:lnTo>
                  <a:pt x="8887" y="8000"/>
                </a:lnTo>
                <a:lnTo>
                  <a:pt x="6665" y="8000"/>
                </a:lnTo>
                <a:lnTo>
                  <a:pt x="6665" y="9000"/>
                </a:lnTo>
                <a:lnTo>
                  <a:pt x="8887" y="9000"/>
                </a:lnTo>
                <a:moveTo>
                  <a:pt x="8887" y="5000"/>
                </a:moveTo>
                <a:lnTo>
                  <a:pt x="8887" y="4000"/>
                </a:lnTo>
                <a:lnTo>
                  <a:pt x="6665" y="4000"/>
                </a:lnTo>
                <a:lnTo>
                  <a:pt x="6665" y="5000"/>
                </a:lnTo>
                <a:lnTo>
                  <a:pt x="8887" y="5000"/>
                </a:lnTo>
                <a:moveTo>
                  <a:pt x="3333" y="2000"/>
                </a:moveTo>
                <a:lnTo>
                  <a:pt x="3333" y="1000"/>
                </a:lnTo>
                <a:lnTo>
                  <a:pt x="1111" y="1000"/>
                </a:lnTo>
                <a:lnTo>
                  <a:pt x="1111" y="2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true"/>
          <p:nvPr/>
        </p:nvSpPr>
        <p:spPr>
          <a:xfrm flipH="false" flipV="false" rot="0">
            <a:off x="9590467" y="5482382"/>
            <a:ext cx="926372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Attribution</a:t>
            </a:r>
            <a:endParaRPr lang="en-US" sz="1100"/>
          </a:p>
        </p:txBody>
      </p:sp>
      <p:sp>
        <p:nvSpPr>
          <p:cNvPr id="27" name="TextBox 27"/>
          <p:cNvSpPr txBox="true"/>
          <p:nvPr/>
        </p:nvSpPr>
        <p:spPr>
          <a:xfrm flipH="false" flipV="false" rot="0">
            <a:off x="9590467" y="5652790"/>
            <a:ext cx="897805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五类归因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12156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5619684" y="2570410"/>
            <a:ext cx="656926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05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560073" y="3003798"/>
            <a:ext cx="9068806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局限坦诚与未来展望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2247337" y="3986660"/>
            <a:ext cx="7694276" cy="31998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500">
                <a:ln/>
                <a:solidFill>
                  <a:srgbClr val="F1F3F5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科学态度：正视不足，规划进化路径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EDGE CASES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边界案例：诚实展示模型的能力边界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13144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80880" y="13525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SoundInsight主动识别六类边界场景并在Demo中透明展示模型表现，包括委婉表达、中性比较、关键词误触、评分冲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突、多语言混杂和极短评论。这种"诚实AI"设计理念让卖家清楚知道何时信任模型、何时需要人工介入。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154436"/>
            <a:ext cx="5561209" cy="204698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154436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5227918" y="2278261"/>
            <a:ext cx="790377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5B8CB8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置信度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flipH="false" flipV="false" rot="0">
            <a:off x="620086" y="2865091"/>
            <a:ext cx="161884" cy="161925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499" y="7500"/>
                </a:moveTo>
                <a:lnTo>
                  <a:pt x="4499" y="6500"/>
                </a:lnTo>
                <a:lnTo>
                  <a:pt x="5499" y="6500"/>
                </a:lnTo>
                <a:lnTo>
                  <a:pt x="5499" y="7500"/>
                </a:lnTo>
                <a:lnTo>
                  <a:pt x="4499" y="7500"/>
                </a:lnTo>
                <a:moveTo>
                  <a:pt x="5499" y="5680"/>
                </a:moveTo>
                <a:lnTo>
                  <a:pt x="5499" y="6000"/>
                </a:lnTo>
                <a:lnTo>
                  <a:pt x="4499" y="6000"/>
                </a:lnTo>
                <a:lnTo>
                  <a:pt x="4499" y="5250"/>
                </a:lnTo>
                <a:cubicBezTo>
                  <a:pt x="4499" y="5110"/>
                  <a:pt x="4547" y="4991"/>
                  <a:pt x="4644" y="4895"/>
                </a:cubicBezTo>
                <a:cubicBezTo>
                  <a:pt x="4740" y="4798"/>
                  <a:pt x="4859" y="4750"/>
                  <a:pt x="4999" y="4750"/>
                </a:cubicBezTo>
                <a:cubicBezTo>
                  <a:pt x="5205" y="4750"/>
                  <a:pt x="5382" y="4676"/>
                  <a:pt x="5529" y="4530"/>
                </a:cubicBezTo>
                <a:cubicBezTo>
                  <a:pt x="5675" y="4383"/>
                  <a:pt x="5749" y="4206"/>
                  <a:pt x="5749" y="4000"/>
                </a:cubicBezTo>
                <a:cubicBezTo>
                  <a:pt x="5749" y="3793"/>
                  <a:pt x="5675" y="3616"/>
                  <a:pt x="5529" y="3470"/>
                </a:cubicBezTo>
                <a:cubicBezTo>
                  <a:pt x="5382" y="3323"/>
                  <a:pt x="5205" y="3250"/>
                  <a:pt x="4999" y="3250"/>
                </a:cubicBezTo>
                <a:cubicBezTo>
                  <a:pt x="4819" y="3250"/>
                  <a:pt x="4660" y="3306"/>
                  <a:pt x="4524" y="3420"/>
                </a:cubicBezTo>
                <a:cubicBezTo>
                  <a:pt x="4387" y="3533"/>
                  <a:pt x="4299" y="3676"/>
                  <a:pt x="4259" y="3850"/>
                </a:cubicBezTo>
                <a:lnTo>
                  <a:pt x="3279" y="3660"/>
                </a:lnTo>
                <a:cubicBezTo>
                  <a:pt x="3332" y="3393"/>
                  <a:pt x="3442" y="3153"/>
                  <a:pt x="3609" y="2940"/>
                </a:cubicBezTo>
                <a:cubicBezTo>
                  <a:pt x="3775" y="2726"/>
                  <a:pt x="3979" y="2558"/>
                  <a:pt x="4219" y="2435"/>
                </a:cubicBezTo>
                <a:cubicBezTo>
                  <a:pt x="4459" y="2311"/>
                  <a:pt x="4719" y="2250"/>
                  <a:pt x="4999" y="2250"/>
                </a:cubicBezTo>
                <a:cubicBezTo>
                  <a:pt x="5319" y="2250"/>
                  <a:pt x="5612" y="2328"/>
                  <a:pt x="5879" y="2485"/>
                </a:cubicBezTo>
                <a:cubicBezTo>
                  <a:pt x="6145" y="2641"/>
                  <a:pt x="6357" y="2853"/>
                  <a:pt x="6514" y="3120"/>
                </a:cubicBezTo>
                <a:cubicBezTo>
                  <a:pt x="6670" y="3386"/>
                  <a:pt x="6749" y="3680"/>
                  <a:pt x="6749" y="4000"/>
                </a:cubicBezTo>
                <a:cubicBezTo>
                  <a:pt x="6749" y="4393"/>
                  <a:pt x="6632" y="4743"/>
                  <a:pt x="6399" y="5050"/>
                </a:cubicBezTo>
                <a:cubicBezTo>
                  <a:pt x="6165" y="5356"/>
                  <a:pt x="5865" y="5566"/>
                  <a:pt x="5499" y="568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" name="TextBox 12"/>
          <p:cNvSpPr txBox="true"/>
          <p:nvPr/>
        </p:nvSpPr>
        <p:spPr>
          <a:xfrm flipH="false" flipV="false" rot="0">
            <a:off x="821177" y="2816126"/>
            <a:ext cx="501618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委婉表达识别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638015" y="3174206"/>
            <a:ext cx="5380280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"声音还行吧"等模糊措辞，模型输出置信度分数而非强制二分类，提示卖家关注低置信样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本</a:t>
            </a:r>
            <a:endParaRPr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6170657" y="2154436"/>
            <a:ext cx="5561209" cy="204698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6170657" y="2154436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10743448" y="2278261"/>
            <a:ext cx="98841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5B8CB8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LLM复核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 flipH="false" flipV="false" rot="0">
            <a:off x="6333658" y="2968377"/>
            <a:ext cx="161884" cy="161925"/>
          </a:xfrm>
          <a:custGeom>
            <a:rect b="b" l="l" r="r" t="t"/>
            <a:pathLst>
              <a:path h="10000" w="9998">
                <a:moveTo>
                  <a:pt x="3888" y="8333"/>
                </a:moveTo>
                <a:lnTo>
                  <a:pt x="3888" y="10000"/>
                </a:lnTo>
                <a:lnTo>
                  <a:pt x="6110" y="10000"/>
                </a:lnTo>
                <a:lnTo>
                  <a:pt x="6110" y="8333"/>
                </a:lnTo>
                <a:lnTo>
                  <a:pt x="3888" y="8333"/>
                </a:lnTo>
                <a:moveTo>
                  <a:pt x="9998" y="0"/>
                </a:moveTo>
                <a:lnTo>
                  <a:pt x="0" y="0"/>
                </a:lnTo>
                <a:lnTo>
                  <a:pt x="0" y="1667"/>
                </a:lnTo>
                <a:lnTo>
                  <a:pt x="9998" y="1667"/>
                </a:lnTo>
                <a:lnTo>
                  <a:pt x="9998" y="0"/>
                </a:lnTo>
                <a:moveTo>
                  <a:pt x="1666" y="4167"/>
                </a:moveTo>
                <a:lnTo>
                  <a:pt x="1666" y="5833"/>
                </a:lnTo>
                <a:lnTo>
                  <a:pt x="8332" y="5833"/>
                </a:lnTo>
                <a:lnTo>
                  <a:pt x="8332" y="4167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true"/>
          <p:nvPr/>
        </p:nvSpPr>
        <p:spPr>
          <a:xfrm flipH="false" flipV="false" rot="0">
            <a:off x="6534748" y="2919412"/>
            <a:ext cx="501618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关键词误触过滤</a:t>
            </a:r>
            <a:endParaRPr lang="en-US" sz="1100"/>
          </a:p>
        </p:txBody>
      </p:sp>
      <p:sp>
        <p:nvSpPr>
          <p:cNvPr id="19" name="TextBox 19"/>
          <p:cNvSpPr txBox="true"/>
          <p:nvPr/>
        </p:nvSpPr>
        <p:spPr>
          <a:xfrm flipH="false" flipV="false" rot="0">
            <a:off x="6351586" y="3277493"/>
            <a:ext cx="519935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"bass"指鲈鱼、"treble"出现在足球语境，RLCA的LLM复核环节有效减少假阳性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457086" y="4353818"/>
            <a:ext cx="5561209" cy="204698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 flipH="false" flipV="false" rot="0">
            <a:off x="457086" y="4353818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true"/>
          <p:nvPr/>
        </p:nvSpPr>
        <p:spPr>
          <a:xfrm flipH="false" flipV="false" rot="0">
            <a:off x="5018420" y="4477643"/>
            <a:ext cx="999875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5B8CB8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语义独立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 flipH="false" flipV="false" rot="0">
            <a:off x="620086" y="5064472"/>
            <a:ext cx="161884" cy="161925"/>
          </a:xfrm>
          <a:custGeom>
            <a:rect b="b" l="l" r="r" t="t"/>
            <a:pathLst>
              <a:path h="10000" w="9998">
                <a:moveTo>
                  <a:pt x="4515" y="0"/>
                </a:moveTo>
                <a:lnTo>
                  <a:pt x="5483" y="0"/>
                </a:lnTo>
                <a:lnTo>
                  <a:pt x="5483" y="674"/>
                </a:lnTo>
                <a:lnTo>
                  <a:pt x="7905" y="1547"/>
                </a:lnTo>
                <a:lnTo>
                  <a:pt x="9669" y="916"/>
                </a:lnTo>
                <a:lnTo>
                  <a:pt x="9969" y="1916"/>
                </a:lnTo>
                <a:lnTo>
                  <a:pt x="8506" y="2442"/>
                </a:lnTo>
                <a:lnTo>
                  <a:pt x="9998" y="6926"/>
                </a:lnTo>
                <a:cubicBezTo>
                  <a:pt x="9733" y="7228"/>
                  <a:pt x="9420" y="7465"/>
                  <a:pt x="9058" y="7637"/>
                </a:cubicBezTo>
                <a:cubicBezTo>
                  <a:pt x="8696" y="7809"/>
                  <a:pt x="8312" y="7895"/>
                  <a:pt x="7905" y="7895"/>
                </a:cubicBezTo>
                <a:cubicBezTo>
                  <a:pt x="7498" y="7895"/>
                  <a:pt x="7114" y="7809"/>
                  <a:pt x="6753" y="7637"/>
                </a:cubicBezTo>
                <a:cubicBezTo>
                  <a:pt x="6391" y="7465"/>
                  <a:pt x="6077" y="7228"/>
                  <a:pt x="5813" y="6926"/>
                </a:cubicBezTo>
                <a:lnTo>
                  <a:pt x="7305" y="2442"/>
                </a:lnTo>
                <a:lnTo>
                  <a:pt x="5483" y="1779"/>
                </a:lnTo>
                <a:lnTo>
                  <a:pt x="5483" y="8947"/>
                </a:lnTo>
                <a:lnTo>
                  <a:pt x="7421" y="8947"/>
                </a:lnTo>
                <a:lnTo>
                  <a:pt x="7421" y="10000"/>
                </a:lnTo>
                <a:lnTo>
                  <a:pt x="2577" y="10000"/>
                </a:lnTo>
                <a:lnTo>
                  <a:pt x="2577" y="8947"/>
                </a:lnTo>
                <a:lnTo>
                  <a:pt x="4515" y="8947"/>
                </a:lnTo>
                <a:lnTo>
                  <a:pt x="4515" y="1779"/>
                </a:lnTo>
                <a:lnTo>
                  <a:pt x="2693" y="2442"/>
                </a:lnTo>
                <a:lnTo>
                  <a:pt x="4185" y="6926"/>
                </a:lnTo>
                <a:cubicBezTo>
                  <a:pt x="3920" y="7228"/>
                  <a:pt x="3607" y="7465"/>
                  <a:pt x="3245" y="7637"/>
                </a:cubicBezTo>
                <a:cubicBezTo>
                  <a:pt x="2883" y="7809"/>
                  <a:pt x="2499" y="7895"/>
                  <a:pt x="2093" y="7895"/>
                </a:cubicBezTo>
                <a:cubicBezTo>
                  <a:pt x="1685" y="7895"/>
                  <a:pt x="1301" y="7809"/>
                  <a:pt x="940" y="7637"/>
                </a:cubicBezTo>
                <a:cubicBezTo>
                  <a:pt x="578" y="7465"/>
                  <a:pt x="264" y="7228"/>
                  <a:pt x="0" y="6926"/>
                </a:cubicBezTo>
                <a:lnTo>
                  <a:pt x="1492" y="2442"/>
                </a:lnTo>
                <a:lnTo>
                  <a:pt x="29" y="1916"/>
                </a:lnTo>
                <a:lnTo>
                  <a:pt x="329" y="916"/>
                </a:lnTo>
                <a:lnTo>
                  <a:pt x="2093" y="1547"/>
                </a:lnTo>
                <a:lnTo>
                  <a:pt x="4515" y="674"/>
                </a:lnTo>
                <a:lnTo>
                  <a:pt x="4515" y="0"/>
                </a:lnTo>
                <a:moveTo>
                  <a:pt x="8855" y="6568"/>
                </a:moveTo>
                <a:lnTo>
                  <a:pt x="7905" y="3737"/>
                </a:lnTo>
                <a:lnTo>
                  <a:pt x="6956" y="6568"/>
                </a:lnTo>
                <a:cubicBezTo>
                  <a:pt x="7246" y="6750"/>
                  <a:pt x="7563" y="6842"/>
                  <a:pt x="7905" y="6842"/>
                </a:cubicBezTo>
                <a:cubicBezTo>
                  <a:pt x="8247" y="6842"/>
                  <a:pt x="8564" y="6750"/>
                  <a:pt x="8855" y="6568"/>
                </a:cubicBezTo>
                <a:moveTo>
                  <a:pt x="3042" y="6568"/>
                </a:moveTo>
                <a:lnTo>
                  <a:pt x="2093" y="3737"/>
                </a:lnTo>
                <a:lnTo>
                  <a:pt x="1143" y="6568"/>
                </a:lnTo>
                <a:cubicBezTo>
                  <a:pt x="1433" y="6750"/>
                  <a:pt x="1750" y="6842"/>
                  <a:pt x="2093" y="6842"/>
                </a:cubicBezTo>
                <a:cubicBezTo>
                  <a:pt x="2435" y="6842"/>
                  <a:pt x="2751" y="6750"/>
                  <a:pt x="3042" y="6568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true"/>
          <p:nvPr/>
        </p:nvSpPr>
        <p:spPr>
          <a:xfrm flipH="false" flipV="false" rot="0">
            <a:off x="821177" y="5015508"/>
            <a:ext cx="501618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评分冲突处理</a:t>
            </a:r>
            <a:endParaRPr lang="en-US" sz="1100"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638015" y="5373588"/>
            <a:ext cx="5380280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5星评论含音质吐槽、2星实为物流问题，模型独立于评分进行语义判断，避免被星级误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导</a:t>
            </a:r>
            <a:endParaRPr/>
          </a:p>
        </p:txBody>
      </p:sp>
      <p:sp>
        <p:nvSpPr>
          <p:cNvPr id="26" name="AutoShape 26"/>
          <p:cNvSpPr/>
          <p:nvPr/>
        </p:nvSpPr>
        <p:spPr>
          <a:xfrm flipH="false" flipV="false" rot="0">
            <a:off x="6170657" y="4353818"/>
            <a:ext cx="5561209" cy="204698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 flipH="false" flipV="false" rot="0">
            <a:off x="6170657" y="4353818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Box 28"/>
          <p:cNvSpPr txBox="true"/>
          <p:nvPr/>
        </p:nvSpPr>
        <p:spPr>
          <a:xfrm flipH="false" flipV="false" rot="0">
            <a:off x="10941042" y="4477643"/>
            <a:ext cx="79082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5B8CB8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Gradio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 flipH="false" flipV="false" rot="0">
            <a:off x="6333658" y="5064472"/>
            <a:ext cx="161884" cy="161925"/>
          </a:xfrm>
          <a:custGeom>
            <a:rect b="b" l="l" r="r" t="t"/>
            <a:pathLst>
              <a:path h="10000" w="9998">
                <a:moveTo>
                  <a:pt x="4999" y="0"/>
                </a:moveTo>
                <a:cubicBezTo>
                  <a:pt x="5812" y="0"/>
                  <a:pt x="6582" y="222"/>
                  <a:pt x="7309" y="667"/>
                </a:cubicBezTo>
                <a:cubicBezTo>
                  <a:pt x="8005" y="1096"/>
                  <a:pt x="8591" y="1690"/>
                  <a:pt x="9069" y="2450"/>
                </a:cubicBezTo>
                <a:cubicBezTo>
                  <a:pt x="9546" y="3209"/>
                  <a:pt x="9856" y="4059"/>
                  <a:pt x="9998" y="5000"/>
                </a:cubicBezTo>
                <a:cubicBezTo>
                  <a:pt x="9856" y="5940"/>
                  <a:pt x="9546" y="6790"/>
                  <a:pt x="9069" y="7550"/>
                </a:cubicBezTo>
                <a:cubicBezTo>
                  <a:pt x="8591" y="8309"/>
                  <a:pt x="8005" y="8903"/>
                  <a:pt x="7309" y="9333"/>
                </a:cubicBezTo>
                <a:cubicBezTo>
                  <a:pt x="6582" y="9777"/>
                  <a:pt x="5812" y="10000"/>
                  <a:pt x="4999" y="10000"/>
                </a:cubicBezTo>
                <a:cubicBezTo>
                  <a:pt x="4185" y="10000"/>
                  <a:pt x="3415" y="9777"/>
                  <a:pt x="2689" y="9333"/>
                </a:cubicBezTo>
                <a:cubicBezTo>
                  <a:pt x="1993" y="8903"/>
                  <a:pt x="1406" y="8309"/>
                  <a:pt x="929" y="7550"/>
                </a:cubicBezTo>
                <a:cubicBezTo>
                  <a:pt x="451" y="6790"/>
                  <a:pt x="142" y="5940"/>
                  <a:pt x="0" y="5000"/>
                </a:cubicBezTo>
                <a:cubicBezTo>
                  <a:pt x="142" y="4059"/>
                  <a:pt x="451" y="3209"/>
                  <a:pt x="929" y="2450"/>
                </a:cubicBezTo>
                <a:cubicBezTo>
                  <a:pt x="1406" y="1690"/>
                  <a:pt x="1993" y="1096"/>
                  <a:pt x="2689" y="667"/>
                </a:cubicBezTo>
                <a:cubicBezTo>
                  <a:pt x="3415" y="222"/>
                  <a:pt x="4185" y="0"/>
                  <a:pt x="4999" y="0"/>
                </a:cubicBezTo>
                <a:moveTo>
                  <a:pt x="4999" y="8889"/>
                </a:moveTo>
                <a:cubicBezTo>
                  <a:pt x="5639" y="8889"/>
                  <a:pt x="6249" y="8718"/>
                  <a:pt x="6829" y="8378"/>
                </a:cubicBezTo>
                <a:cubicBezTo>
                  <a:pt x="7389" y="8052"/>
                  <a:pt x="7864" y="7592"/>
                  <a:pt x="8256" y="7000"/>
                </a:cubicBezTo>
                <a:cubicBezTo>
                  <a:pt x="8647" y="6407"/>
                  <a:pt x="8913" y="5740"/>
                  <a:pt x="9055" y="5000"/>
                </a:cubicBezTo>
                <a:cubicBezTo>
                  <a:pt x="8913" y="4259"/>
                  <a:pt x="8647" y="3592"/>
                  <a:pt x="8256" y="3000"/>
                </a:cubicBezTo>
                <a:cubicBezTo>
                  <a:pt x="7864" y="2407"/>
                  <a:pt x="7389" y="1948"/>
                  <a:pt x="6829" y="1622"/>
                </a:cubicBezTo>
                <a:cubicBezTo>
                  <a:pt x="6249" y="1281"/>
                  <a:pt x="5639" y="1111"/>
                  <a:pt x="4999" y="1111"/>
                </a:cubicBezTo>
                <a:cubicBezTo>
                  <a:pt x="4358" y="1111"/>
                  <a:pt x="3748" y="1281"/>
                  <a:pt x="3169" y="1622"/>
                </a:cubicBezTo>
                <a:cubicBezTo>
                  <a:pt x="2609" y="1948"/>
                  <a:pt x="2133" y="2407"/>
                  <a:pt x="1742" y="3000"/>
                </a:cubicBezTo>
                <a:cubicBezTo>
                  <a:pt x="1350" y="3592"/>
                  <a:pt x="1084" y="4259"/>
                  <a:pt x="943" y="5000"/>
                </a:cubicBezTo>
                <a:cubicBezTo>
                  <a:pt x="1084" y="5740"/>
                  <a:pt x="1350" y="6407"/>
                  <a:pt x="1742" y="7000"/>
                </a:cubicBezTo>
                <a:cubicBezTo>
                  <a:pt x="2133" y="7592"/>
                  <a:pt x="2609" y="8052"/>
                  <a:pt x="3169" y="8378"/>
                </a:cubicBezTo>
                <a:cubicBezTo>
                  <a:pt x="3748" y="8718"/>
                  <a:pt x="4358" y="8889"/>
                  <a:pt x="4999" y="8889"/>
                </a:cubicBezTo>
                <a:moveTo>
                  <a:pt x="4999" y="7500"/>
                </a:moveTo>
                <a:cubicBezTo>
                  <a:pt x="4623" y="7500"/>
                  <a:pt x="4276" y="7387"/>
                  <a:pt x="3959" y="7161"/>
                </a:cubicBezTo>
                <a:cubicBezTo>
                  <a:pt x="3642" y="6935"/>
                  <a:pt x="3390" y="6631"/>
                  <a:pt x="3202" y="6250"/>
                </a:cubicBezTo>
                <a:cubicBezTo>
                  <a:pt x="3014" y="5868"/>
                  <a:pt x="2920" y="5452"/>
                  <a:pt x="2920" y="5000"/>
                </a:cubicBezTo>
                <a:cubicBezTo>
                  <a:pt x="2920" y="4548"/>
                  <a:pt x="3014" y="4131"/>
                  <a:pt x="3202" y="3750"/>
                </a:cubicBezTo>
                <a:cubicBezTo>
                  <a:pt x="3390" y="3368"/>
                  <a:pt x="3642" y="3065"/>
                  <a:pt x="3959" y="2839"/>
                </a:cubicBezTo>
                <a:cubicBezTo>
                  <a:pt x="4276" y="2613"/>
                  <a:pt x="4623" y="2500"/>
                  <a:pt x="4999" y="2500"/>
                </a:cubicBezTo>
                <a:cubicBezTo>
                  <a:pt x="5375" y="2500"/>
                  <a:pt x="5721" y="2613"/>
                  <a:pt x="6039" y="2839"/>
                </a:cubicBezTo>
                <a:cubicBezTo>
                  <a:pt x="6355" y="3065"/>
                  <a:pt x="6608" y="3368"/>
                  <a:pt x="6796" y="3750"/>
                </a:cubicBezTo>
                <a:cubicBezTo>
                  <a:pt x="6984" y="4131"/>
                  <a:pt x="7078" y="4548"/>
                  <a:pt x="7078" y="5000"/>
                </a:cubicBezTo>
                <a:cubicBezTo>
                  <a:pt x="7078" y="5452"/>
                  <a:pt x="6984" y="5868"/>
                  <a:pt x="6796" y="6250"/>
                </a:cubicBezTo>
                <a:cubicBezTo>
                  <a:pt x="6608" y="6631"/>
                  <a:pt x="6355" y="6935"/>
                  <a:pt x="6039" y="7161"/>
                </a:cubicBezTo>
                <a:cubicBezTo>
                  <a:pt x="5721" y="7387"/>
                  <a:pt x="5375" y="7500"/>
                  <a:pt x="4999" y="7500"/>
                </a:cubicBezTo>
                <a:moveTo>
                  <a:pt x="4999" y="6389"/>
                </a:moveTo>
                <a:cubicBezTo>
                  <a:pt x="5208" y="6389"/>
                  <a:pt x="5401" y="6326"/>
                  <a:pt x="5577" y="6200"/>
                </a:cubicBezTo>
                <a:cubicBezTo>
                  <a:pt x="5752" y="6074"/>
                  <a:pt x="5892" y="5905"/>
                  <a:pt x="5997" y="5694"/>
                </a:cubicBezTo>
                <a:cubicBezTo>
                  <a:pt x="6101" y="5483"/>
                  <a:pt x="6154" y="5252"/>
                  <a:pt x="6154" y="5000"/>
                </a:cubicBezTo>
                <a:cubicBezTo>
                  <a:pt x="6154" y="4748"/>
                  <a:pt x="6101" y="4516"/>
                  <a:pt x="5997" y="4306"/>
                </a:cubicBezTo>
                <a:cubicBezTo>
                  <a:pt x="5892" y="4094"/>
                  <a:pt x="5752" y="3926"/>
                  <a:pt x="5577" y="3800"/>
                </a:cubicBezTo>
                <a:cubicBezTo>
                  <a:pt x="5401" y="3674"/>
                  <a:pt x="5208" y="3611"/>
                  <a:pt x="4999" y="3611"/>
                </a:cubicBezTo>
                <a:cubicBezTo>
                  <a:pt x="4789" y="3611"/>
                  <a:pt x="4597" y="3674"/>
                  <a:pt x="4421" y="3800"/>
                </a:cubicBezTo>
                <a:cubicBezTo>
                  <a:pt x="4245" y="3926"/>
                  <a:pt x="4105" y="4094"/>
                  <a:pt x="4001" y="4306"/>
                </a:cubicBezTo>
                <a:cubicBezTo>
                  <a:pt x="3896" y="4516"/>
                  <a:pt x="3844" y="4748"/>
                  <a:pt x="3844" y="5000"/>
                </a:cubicBezTo>
                <a:cubicBezTo>
                  <a:pt x="3844" y="5252"/>
                  <a:pt x="3896" y="5483"/>
                  <a:pt x="4001" y="5694"/>
                </a:cubicBezTo>
                <a:cubicBezTo>
                  <a:pt x="4105" y="5905"/>
                  <a:pt x="4245" y="6074"/>
                  <a:pt x="4421" y="6200"/>
                </a:cubicBezTo>
                <a:cubicBezTo>
                  <a:pt x="4597" y="6326"/>
                  <a:pt x="4789" y="6389"/>
                  <a:pt x="4999" y="6389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0" name="TextBox 30"/>
          <p:cNvSpPr txBox="true"/>
          <p:nvPr/>
        </p:nvSpPr>
        <p:spPr>
          <a:xfrm flipH="false" flipV="false" rot="0">
            <a:off x="6534748" y="5015508"/>
            <a:ext cx="501618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Demo透明展示</a:t>
            </a:r>
            <a:endParaRPr lang="en-US" sz="1100"/>
          </a:p>
        </p:txBody>
      </p:sp>
      <p:sp>
        <p:nvSpPr>
          <p:cNvPr id="31" name="TextBox 31"/>
          <p:cNvSpPr txBox="true"/>
          <p:nvPr/>
        </p:nvSpPr>
        <p:spPr>
          <a:xfrm flipH="false" flipV="false" rot="0">
            <a:off x="6351586" y="5373588"/>
            <a:ext cx="5380280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Gradio Demo专设"边界案例"Tab，硬编码六类典型场景的概率输出，让用户直观理解判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断边界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Roadmap · Limitations &amp; Evolution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33425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已知局限与进化路线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257300"/>
            <a:ext cx="9522" cy="60751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285875"/>
            <a:ext cx="11608072" cy="54188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SoundInsight坦诚面对标注精度78%、高音样本稀缺、单语言支持三大局限，同时规划了时序分析、竞品对标、持续学习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三条进化路径，展现从"可用"到"好用"的清晰产品演进逻辑。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40199" y="2047578"/>
            <a:ext cx="152362" cy="152400"/>
          </a:xfrm>
          <a:custGeom>
            <a:rect b="b" l="l" r="r" t="t"/>
            <a:pathLst>
              <a:path h="10000" w="9998">
                <a:moveTo>
                  <a:pt x="5415" y="254"/>
                </a:moveTo>
                <a:lnTo>
                  <a:pt x="9955" y="9188"/>
                </a:lnTo>
                <a:cubicBezTo>
                  <a:pt x="10018" y="9310"/>
                  <a:pt x="10032" y="9444"/>
                  <a:pt x="9998" y="9589"/>
                </a:cubicBezTo>
                <a:cubicBezTo>
                  <a:pt x="9963" y="9733"/>
                  <a:pt x="9888" y="9844"/>
                  <a:pt x="9774" y="9924"/>
                </a:cubicBezTo>
                <a:cubicBezTo>
                  <a:pt x="9704" y="9974"/>
                  <a:pt x="9625" y="10000"/>
                  <a:pt x="9536" y="10000"/>
                </a:cubicBezTo>
                <a:lnTo>
                  <a:pt x="476" y="10000"/>
                </a:lnTo>
                <a:cubicBezTo>
                  <a:pt x="342" y="10000"/>
                  <a:pt x="230" y="9946"/>
                  <a:pt x="138" y="9838"/>
                </a:cubicBezTo>
                <a:cubicBezTo>
                  <a:pt x="46" y="9729"/>
                  <a:pt x="0" y="9603"/>
                  <a:pt x="0" y="9459"/>
                </a:cubicBezTo>
                <a:cubicBezTo>
                  <a:pt x="0" y="9357"/>
                  <a:pt x="19" y="9267"/>
                  <a:pt x="57" y="9188"/>
                </a:cubicBezTo>
                <a:lnTo>
                  <a:pt x="4597" y="254"/>
                </a:lnTo>
                <a:cubicBezTo>
                  <a:pt x="4660" y="124"/>
                  <a:pt x="4755" y="40"/>
                  <a:pt x="4882" y="0"/>
                </a:cubicBezTo>
                <a:cubicBezTo>
                  <a:pt x="5009" y="-40"/>
                  <a:pt x="5130" y="-23"/>
                  <a:pt x="5244" y="49"/>
                </a:cubicBezTo>
                <a:cubicBezTo>
                  <a:pt x="5320" y="99"/>
                  <a:pt x="5377" y="168"/>
                  <a:pt x="5415" y="254"/>
                </a:cubicBezTo>
                <a:moveTo>
                  <a:pt x="5006" y="1608"/>
                </a:moveTo>
                <a:lnTo>
                  <a:pt x="1294" y="8917"/>
                </a:lnTo>
                <a:lnTo>
                  <a:pt x="8718" y="8917"/>
                </a:lnTo>
                <a:lnTo>
                  <a:pt x="5006" y="1608"/>
                </a:lnTo>
                <a:moveTo>
                  <a:pt x="4530" y="8376"/>
                </a:moveTo>
                <a:lnTo>
                  <a:pt x="4530" y="7293"/>
                </a:lnTo>
                <a:lnTo>
                  <a:pt x="5482" y="7293"/>
                </a:lnTo>
                <a:lnTo>
                  <a:pt x="5482" y="8376"/>
                </a:lnTo>
                <a:lnTo>
                  <a:pt x="4530" y="8376"/>
                </a:lnTo>
                <a:moveTo>
                  <a:pt x="4530" y="6210"/>
                </a:moveTo>
                <a:lnTo>
                  <a:pt x="4530" y="3503"/>
                </a:lnTo>
                <a:lnTo>
                  <a:pt x="5482" y="3503"/>
                </a:lnTo>
                <a:lnTo>
                  <a:pt x="5482" y="621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true"/>
          <p:nvPr/>
        </p:nvSpPr>
        <p:spPr>
          <a:xfrm flipH="false" flipV="false" rot="0">
            <a:off x="651853" y="1998166"/>
            <a:ext cx="211863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当前局限（诚实披露）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flipH="false" flipV="false" rot="0">
            <a:off x="457086" y="2344787"/>
            <a:ext cx="5504073" cy="1301204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ED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457086" y="2344787"/>
            <a:ext cx="9522" cy="1301204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638015" y="2807791"/>
            <a:ext cx="5323144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标注精度约78%，边界案例存在15-20%误差，高置信样本471条可用但中低置信样本仍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需人工复核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457086" y="3722191"/>
            <a:ext cx="5504073" cy="1301204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ED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 flipH="false" flipV="false" rot="0">
            <a:off x="457086" y="3722191"/>
            <a:ext cx="9522" cy="1301204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true"/>
          <p:nvPr/>
        </p:nvSpPr>
        <p:spPr>
          <a:xfrm flipH="false" flipV="false" rot="0">
            <a:off x="638015" y="4185196"/>
            <a:ext cx="5323144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高音（Treble）样本仅84条且与清晰度语义重叠，归因F1=0，当前主要依赖清晰度标签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部分覆盖</a:t>
            </a:r>
            <a:endParaRPr/>
          </a:p>
        </p:txBody>
      </p:sp>
      <p:sp>
        <p:nvSpPr>
          <p:cNvPr id="15" name="AutoShape 15"/>
          <p:cNvSpPr/>
          <p:nvPr/>
        </p:nvSpPr>
        <p:spPr>
          <a:xfrm flipH="false" flipV="false" rot="0">
            <a:off x="457086" y="5099596"/>
            <a:ext cx="5504073" cy="1301204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ED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 flipH="false" flipV="false" rot="0">
            <a:off x="457086" y="5099596"/>
            <a:ext cx="9522" cy="1301204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638015" y="5665887"/>
            <a:ext cx="516126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仅支持英文评论，日语、德语等非英语市场的音质评论分析能力尚待扩展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6210905" y="2047578"/>
            <a:ext cx="152362" cy="152400"/>
          </a:xfrm>
          <a:custGeom>
            <a:rect b="b" l="l" r="r" t="t"/>
            <a:pathLst>
              <a:path h="10000" w="9998">
                <a:moveTo>
                  <a:pt x="1054" y="5365"/>
                </a:moveTo>
                <a:cubicBezTo>
                  <a:pt x="1054" y="4565"/>
                  <a:pt x="1223" y="3800"/>
                  <a:pt x="1561" y="3071"/>
                </a:cubicBezTo>
                <a:cubicBezTo>
                  <a:pt x="1891" y="2367"/>
                  <a:pt x="2355" y="1748"/>
                  <a:pt x="2953" y="1214"/>
                </a:cubicBezTo>
                <a:cubicBezTo>
                  <a:pt x="3550" y="680"/>
                  <a:pt x="4232" y="275"/>
                  <a:pt x="4999" y="0"/>
                </a:cubicBezTo>
                <a:cubicBezTo>
                  <a:pt x="5765" y="275"/>
                  <a:pt x="6447" y="680"/>
                  <a:pt x="7045" y="1214"/>
                </a:cubicBezTo>
                <a:cubicBezTo>
                  <a:pt x="7642" y="1748"/>
                  <a:pt x="8106" y="2367"/>
                  <a:pt x="8437" y="3071"/>
                </a:cubicBezTo>
                <a:cubicBezTo>
                  <a:pt x="8775" y="3800"/>
                  <a:pt x="8944" y="4565"/>
                  <a:pt x="8944" y="5365"/>
                </a:cubicBezTo>
                <a:cubicBezTo>
                  <a:pt x="8944" y="5755"/>
                  <a:pt x="8902" y="6138"/>
                  <a:pt x="8820" y="6516"/>
                </a:cubicBezTo>
                <a:lnTo>
                  <a:pt x="9913" y="7390"/>
                </a:lnTo>
                <a:cubicBezTo>
                  <a:pt x="9958" y="7428"/>
                  <a:pt x="9986" y="7474"/>
                  <a:pt x="9998" y="7529"/>
                </a:cubicBezTo>
                <a:cubicBezTo>
                  <a:pt x="10009" y="7583"/>
                  <a:pt x="10000" y="7635"/>
                  <a:pt x="9970" y="7687"/>
                </a:cubicBezTo>
                <a:lnTo>
                  <a:pt x="8561" y="9875"/>
                </a:lnTo>
                <a:cubicBezTo>
                  <a:pt x="8523" y="9933"/>
                  <a:pt x="8466" y="9971"/>
                  <a:pt x="8392" y="9990"/>
                </a:cubicBezTo>
                <a:cubicBezTo>
                  <a:pt x="8316" y="10009"/>
                  <a:pt x="8245" y="10003"/>
                  <a:pt x="8178" y="9971"/>
                </a:cubicBezTo>
                <a:cubicBezTo>
                  <a:pt x="8155" y="9965"/>
                  <a:pt x="8132" y="9952"/>
                  <a:pt x="8110" y="9933"/>
                </a:cubicBezTo>
                <a:lnTo>
                  <a:pt x="6859" y="8858"/>
                </a:lnTo>
                <a:cubicBezTo>
                  <a:pt x="6746" y="8768"/>
                  <a:pt x="6611" y="8724"/>
                  <a:pt x="6453" y="8724"/>
                </a:cubicBezTo>
                <a:lnTo>
                  <a:pt x="3545" y="8724"/>
                </a:lnTo>
                <a:cubicBezTo>
                  <a:pt x="3387" y="8724"/>
                  <a:pt x="3251" y="8768"/>
                  <a:pt x="3139" y="8858"/>
                </a:cubicBezTo>
                <a:lnTo>
                  <a:pt x="1888" y="9933"/>
                </a:lnTo>
                <a:cubicBezTo>
                  <a:pt x="1828" y="9977"/>
                  <a:pt x="1760" y="10000"/>
                  <a:pt x="1685" y="10000"/>
                </a:cubicBezTo>
                <a:cubicBezTo>
                  <a:pt x="1609" y="10000"/>
                  <a:pt x="1542" y="9977"/>
                  <a:pt x="1482" y="9933"/>
                </a:cubicBezTo>
                <a:cubicBezTo>
                  <a:pt x="1467" y="9920"/>
                  <a:pt x="1452" y="9901"/>
                  <a:pt x="1437" y="9875"/>
                </a:cubicBezTo>
                <a:lnTo>
                  <a:pt x="28" y="7687"/>
                </a:lnTo>
                <a:cubicBezTo>
                  <a:pt x="-2" y="7635"/>
                  <a:pt x="-11" y="7583"/>
                  <a:pt x="0" y="7529"/>
                </a:cubicBezTo>
                <a:cubicBezTo>
                  <a:pt x="11" y="7474"/>
                  <a:pt x="39" y="7428"/>
                  <a:pt x="85" y="7390"/>
                </a:cubicBezTo>
                <a:lnTo>
                  <a:pt x="1178" y="6516"/>
                </a:lnTo>
                <a:cubicBezTo>
                  <a:pt x="1095" y="6138"/>
                  <a:pt x="1054" y="5755"/>
                  <a:pt x="1054" y="5365"/>
                </a:cubicBezTo>
                <a:moveTo>
                  <a:pt x="1336" y="7706"/>
                </a:moveTo>
                <a:lnTo>
                  <a:pt x="1888" y="8570"/>
                </a:lnTo>
                <a:lnTo>
                  <a:pt x="2350" y="8186"/>
                </a:lnTo>
                <a:cubicBezTo>
                  <a:pt x="2508" y="8052"/>
                  <a:pt x="2690" y="7948"/>
                  <a:pt x="2897" y="7874"/>
                </a:cubicBezTo>
                <a:cubicBezTo>
                  <a:pt x="3103" y="7800"/>
                  <a:pt x="3319" y="7764"/>
                  <a:pt x="3545" y="7764"/>
                </a:cubicBezTo>
                <a:lnTo>
                  <a:pt x="6453" y="7764"/>
                </a:lnTo>
                <a:cubicBezTo>
                  <a:pt x="6678" y="7764"/>
                  <a:pt x="6894" y="7800"/>
                  <a:pt x="7101" y="7874"/>
                </a:cubicBezTo>
                <a:cubicBezTo>
                  <a:pt x="7307" y="7948"/>
                  <a:pt x="7490" y="8052"/>
                  <a:pt x="7648" y="8186"/>
                </a:cubicBezTo>
                <a:lnTo>
                  <a:pt x="8110" y="8570"/>
                </a:lnTo>
                <a:lnTo>
                  <a:pt x="8662" y="7706"/>
                </a:lnTo>
                <a:lnTo>
                  <a:pt x="8042" y="7217"/>
                </a:lnTo>
                <a:cubicBezTo>
                  <a:pt x="7906" y="7101"/>
                  <a:pt x="7809" y="6967"/>
                  <a:pt x="7749" y="6814"/>
                </a:cubicBezTo>
                <a:cubicBezTo>
                  <a:pt x="7689" y="6660"/>
                  <a:pt x="7677" y="6503"/>
                  <a:pt x="7715" y="6344"/>
                </a:cubicBezTo>
                <a:cubicBezTo>
                  <a:pt x="7783" y="6017"/>
                  <a:pt x="7817" y="5691"/>
                  <a:pt x="7817" y="5365"/>
                </a:cubicBezTo>
                <a:cubicBezTo>
                  <a:pt x="7817" y="4750"/>
                  <a:pt x="7700" y="4161"/>
                  <a:pt x="7468" y="3599"/>
                </a:cubicBezTo>
                <a:cubicBezTo>
                  <a:pt x="7234" y="3049"/>
                  <a:pt x="6905" y="2554"/>
                  <a:pt x="6481" y="2116"/>
                </a:cubicBezTo>
                <a:cubicBezTo>
                  <a:pt x="6056" y="1678"/>
                  <a:pt x="5562" y="1327"/>
                  <a:pt x="4999" y="1065"/>
                </a:cubicBezTo>
                <a:cubicBezTo>
                  <a:pt x="4435" y="1327"/>
                  <a:pt x="3941" y="1678"/>
                  <a:pt x="3517" y="2116"/>
                </a:cubicBezTo>
                <a:cubicBezTo>
                  <a:pt x="3092" y="2554"/>
                  <a:pt x="2763" y="3049"/>
                  <a:pt x="2530" y="3599"/>
                </a:cubicBezTo>
                <a:cubicBezTo>
                  <a:pt x="2297" y="4161"/>
                  <a:pt x="2181" y="4750"/>
                  <a:pt x="2181" y="5365"/>
                </a:cubicBezTo>
                <a:cubicBezTo>
                  <a:pt x="2181" y="5691"/>
                  <a:pt x="2215" y="6017"/>
                  <a:pt x="2283" y="6344"/>
                </a:cubicBezTo>
                <a:cubicBezTo>
                  <a:pt x="2320" y="6503"/>
                  <a:pt x="2309" y="6660"/>
                  <a:pt x="2249" y="6814"/>
                </a:cubicBezTo>
                <a:cubicBezTo>
                  <a:pt x="2189" y="6967"/>
                  <a:pt x="2091" y="7101"/>
                  <a:pt x="1956" y="7217"/>
                </a:cubicBezTo>
                <a:lnTo>
                  <a:pt x="1336" y="7706"/>
                </a:lnTo>
                <a:moveTo>
                  <a:pt x="4999" y="5365"/>
                </a:moveTo>
                <a:cubicBezTo>
                  <a:pt x="4796" y="5365"/>
                  <a:pt x="4608" y="5321"/>
                  <a:pt x="4435" y="5235"/>
                </a:cubicBezTo>
                <a:cubicBezTo>
                  <a:pt x="4262" y="5149"/>
                  <a:pt x="4125" y="5032"/>
                  <a:pt x="4024" y="4885"/>
                </a:cubicBezTo>
                <a:cubicBezTo>
                  <a:pt x="3922" y="4737"/>
                  <a:pt x="3872" y="4577"/>
                  <a:pt x="3872" y="4405"/>
                </a:cubicBezTo>
                <a:cubicBezTo>
                  <a:pt x="3872" y="4232"/>
                  <a:pt x="3922" y="4072"/>
                  <a:pt x="4024" y="3925"/>
                </a:cubicBezTo>
                <a:cubicBezTo>
                  <a:pt x="4125" y="3777"/>
                  <a:pt x="4262" y="3661"/>
                  <a:pt x="4435" y="3575"/>
                </a:cubicBezTo>
                <a:cubicBezTo>
                  <a:pt x="4608" y="3488"/>
                  <a:pt x="4796" y="3445"/>
                  <a:pt x="4999" y="3445"/>
                </a:cubicBezTo>
                <a:cubicBezTo>
                  <a:pt x="5201" y="3445"/>
                  <a:pt x="5389" y="3488"/>
                  <a:pt x="5563" y="3575"/>
                </a:cubicBezTo>
                <a:cubicBezTo>
                  <a:pt x="5735" y="3661"/>
                  <a:pt x="5872" y="3777"/>
                  <a:pt x="5974" y="3925"/>
                </a:cubicBezTo>
                <a:cubicBezTo>
                  <a:pt x="6075" y="4072"/>
                  <a:pt x="6126" y="4232"/>
                  <a:pt x="6126" y="4405"/>
                </a:cubicBezTo>
                <a:cubicBezTo>
                  <a:pt x="6126" y="4577"/>
                  <a:pt x="6075" y="4737"/>
                  <a:pt x="5974" y="4885"/>
                </a:cubicBezTo>
                <a:cubicBezTo>
                  <a:pt x="5872" y="5032"/>
                  <a:pt x="5735" y="5149"/>
                  <a:pt x="5563" y="5235"/>
                </a:cubicBezTo>
                <a:cubicBezTo>
                  <a:pt x="5389" y="5321"/>
                  <a:pt x="5201" y="5365"/>
                  <a:pt x="4999" y="5365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6422560" y="1998166"/>
            <a:ext cx="211863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未来展望（进化路线）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6227793" y="2344787"/>
            <a:ext cx="5504073" cy="1301204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ED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 flipH="false" flipV="false" rot="0">
            <a:off x="6227793" y="2344787"/>
            <a:ext cx="5504073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true"/>
          <p:nvPr/>
        </p:nvSpPr>
        <p:spPr>
          <a:xfrm flipH="false" flipV="false" rot="0">
            <a:off x="6389677" y="2812553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时序分析：接入评论时间戳，监控批次性质量波动（如"某月后低音变差"），为供应链管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理提供预警信号</a:t>
            </a:r>
            <a:endParaRPr/>
          </a:p>
        </p:txBody>
      </p:sp>
      <p:sp>
        <p:nvSpPr>
          <p:cNvPr id="23" name="AutoShape 23"/>
          <p:cNvSpPr/>
          <p:nvPr/>
        </p:nvSpPr>
        <p:spPr>
          <a:xfrm flipH="false" flipV="false" rot="0">
            <a:off x="6227793" y="3722191"/>
            <a:ext cx="5504073" cy="1301204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ED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 flipH="false" flipV="false" rot="0">
            <a:off x="6227793" y="3722191"/>
            <a:ext cx="5504073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Box 25"/>
          <p:cNvSpPr txBox="true"/>
          <p:nvPr/>
        </p:nvSpPr>
        <p:spPr>
          <a:xfrm flipH="false" flipV="false" rot="0">
            <a:off x="6389677" y="4189959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竞品对标：生成多ASIN五维音质雷达图，直观对比自家产品与竞品优劣，支撑下一代产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品改进决策</a:t>
            </a:r>
            <a:endParaRPr/>
          </a:p>
        </p:txBody>
      </p:sp>
      <p:sp>
        <p:nvSpPr>
          <p:cNvPr id="26" name="AutoShape 26"/>
          <p:cNvSpPr/>
          <p:nvPr/>
        </p:nvSpPr>
        <p:spPr>
          <a:xfrm flipH="false" flipV="false" rot="0">
            <a:off x="6227793" y="5099596"/>
            <a:ext cx="5504073" cy="1301204"/>
          </a:xfrm>
          <a:prstGeom prst="rect">
            <a:avLst/>
          </a:prstGeom>
          <a:solidFill>
            <a:srgbClr val="E6E9ED">
              <a:alpha val="100000"/>
            </a:srgbClr>
          </a:solidFill>
          <a:ln w="9525">
            <a:solidFill>
              <a:srgbClr val="C8CED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 flipH="false" flipV="false" rot="0">
            <a:off x="6227793" y="5099596"/>
            <a:ext cx="5504073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Box 28"/>
          <p:cNvSpPr txBox="true"/>
          <p:nvPr/>
        </p:nvSpPr>
        <p:spPr>
          <a:xfrm flipH="false" flipV="false" rot="0">
            <a:off x="6389677" y="5567362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持续学习：建立在线模型更新机制，随新评论自动微调，让模型能力随业务发展同步进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化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COLLABORATION METHODOLOGY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52475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超级个体：一个人 + 四个 AI 的协作方法论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144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99925" y="135255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SoundInsight由一人指挥官+四个AI助手协作完成：Kimi（技术质检）、DeepSeek（战略叙事）、DSH Agent（代码执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行）、Qwen（灵感与叙事）。明确的分工边界与"一票否决权"机制，验证了AI时代超级个体的可行性。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154436"/>
            <a:ext cx="5561209" cy="13138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457086" y="2154436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641214" y="2489895"/>
            <a:ext cx="142839" cy="142875"/>
          </a:xfrm>
          <a:custGeom>
            <a:rect b="b" l="l" r="r" t="t"/>
            <a:pathLst>
              <a:path h="10000" w="9998">
                <a:moveTo>
                  <a:pt x="3737" y="7619"/>
                </a:moveTo>
                <a:lnTo>
                  <a:pt x="4374" y="7619"/>
                </a:lnTo>
                <a:lnTo>
                  <a:pt x="4374" y="5238"/>
                </a:lnTo>
                <a:lnTo>
                  <a:pt x="5624" y="5238"/>
                </a:lnTo>
                <a:lnTo>
                  <a:pt x="5624" y="7619"/>
                </a:lnTo>
                <a:lnTo>
                  <a:pt x="6261" y="7619"/>
                </a:lnTo>
                <a:cubicBezTo>
                  <a:pt x="6303" y="7346"/>
                  <a:pt x="6419" y="7079"/>
                  <a:pt x="6611" y="6819"/>
                </a:cubicBezTo>
                <a:cubicBezTo>
                  <a:pt x="6777" y="6584"/>
                  <a:pt x="7023" y="6330"/>
                  <a:pt x="7349" y="6057"/>
                </a:cubicBezTo>
                <a:lnTo>
                  <a:pt x="7523" y="5914"/>
                </a:lnTo>
                <a:cubicBezTo>
                  <a:pt x="7765" y="5724"/>
                  <a:pt x="7898" y="5619"/>
                  <a:pt x="7923" y="5600"/>
                </a:cubicBezTo>
                <a:cubicBezTo>
                  <a:pt x="8189" y="5346"/>
                  <a:pt x="8394" y="5066"/>
                  <a:pt x="8536" y="4762"/>
                </a:cubicBezTo>
                <a:cubicBezTo>
                  <a:pt x="8677" y="4457"/>
                  <a:pt x="8748" y="4140"/>
                  <a:pt x="8748" y="3810"/>
                </a:cubicBezTo>
                <a:cubicBezTo>
                  <a:pt x="8748" y="3295"/>
                  <a:pt x="8577" y="2815"/>
                  <a:pt x="8236" y="2371"/>
                </a:cubicBezTo>
                <a:cubicBezTo>
                  <a:pt x="7902" y="1939"/>
                  <a:pt x="7452" y="1597"/>
                  <a:pt x="6886" y="1343"/>
                </a:cubicBezTo>
                <a:cubicBezTo>
                  <a:pt x="6302" y="1082"/>
                  <a:pt x="5673" y="952"/>
                  <a:pt x="4999" y="952"/>
                </a:cubicBezTo>
                <a:cubicBezTo>
                  <a:pt x="4324" y="952"/>
                  <a:pt x="3695" y="1082"/>
                  <a:pt x="3112" y="1343"/>
                </a:cubicBezTo>
                <a:cubicBezTo>
                  <a:pt x="2545" y="1597"/>
                  <a:pt x="2095" y="1939"/>
                  <a:pt x="1762" y="2371"/>
                </a:cubicBezTo>
                <a:cubicBezTo>
                  <a:pt x="1420" y="2815"/>
                  <a:pt x="1250" y="3295"/>
                  <a:pt x="1250" y="3810"/>
                </a:cubicBezTo>
                <a:cubicBezTo>
                  <a:pt x="1250" y="4140"/>
                  <a:pt x="1320" y="4457"/>
                  <a:pt x="1462" y="4762"/>
                </a:cubicBezTo>
                <a:cubicBezTo>
                  <a:pt x="1604" y="5066"/>
                  <a:pt x="1808" y="5342"/>
                  <a:pt x="2075" y="5590"/>
                </a:cubicBezTo>
                <a:cubicBezTo>
                  <a:pt x="2099" y="5616"/>
                  <a:pt x="2233" y="5724"/>
                  <a:pt x="2475" y="5914"/>
                </a:cubicBezTo>
                <a:lnTo>
                  <a:pt x="2649" y="6057"/>
                </a:lnTo>
                <a:cubicBezTo>
                  <a:pt x="2974" y="6330"/>
                  <a:pt x="3220" y="6584"/>
                  <a:pt x="3387" y="6819"/>
                </a:cubicBezTo>
                <a:cubicBezTo>
                  <a:pt x="3578" y="7079"/>
                  <a:pt x="3695" y="7346"/>
                  <a:pt x="3737" y="7619"/>
                </a:cubicBezTo>
                <a:moveTo>
                  <a:pt x="6249" y="8571"/>
                </a:moveTo>
                <a:lnTo>
                  <a:pt x="3749" y="8571"/>
                </a:lnTo>
                <a:lnTo>
                  <a:pt x="3749" y="9048"/>
                </a:lnTo>
                <a:lnTo>
                  <a:pt x="6249" y="9048"/>
                </a:lnTo>
                <a:lnTo>
                  <a:pt x="6249" y="8571"/>
                </a:lnTo>
                <a:moveTo>
                  <a:pt x="1100" y="6190"/>
                </a:moveTo>
                <a:cubicBezTo>
                  <a:pt x="750" y="5860"/>
                  <a:pt x="479" y="5495"/>
                  <a:pt x="287" y="5095"/>
                </a:cubicBezTo>
                <a:cubicBezTo>
                  <a:pt x="95" y="4682"/>
                  <a:pt x="0" y="4254"/>
                  <a:pt x="0" y="3810"/>
                </a:cubicBezTo>
                <a:cubicBezTo>
                  <a:pt x="0" y="3117"/>
                  <a:pt x="229" y="2476"/>
                  <a:pt x="687" y="1886"/>
                </a:cubicBezTo>
                <a:cubicBezTo>
                  <a:pt x="1129" y="1314"/>
                  <a:pt x="1725" y="860"/>
                  <a:pt x="2475" y="524"/>
                </a:cubicBezTo>
                <a:cubicBezTo>
                  <a:pt x="3249" y="174"/>
                  <a:pt x="4091" y="0"/>
                  <a:pt x="4999" y="0"/>
                </a:cubicBezTo>
                <a:cubicBezTo>
                  <a:pt x="5907" y="0"/>
                  <a:pt x="6748" y="174"/>
                  <a:pt x="7523" y="524"/>
                </a:cubicBezTo>
                <a:cubicBezTo>
                  <a:pt x="8273" y="860"/>
                  <a:pt x="8869" y="1314"/>
                  <a:pt x="9311" y="1886"/>
                </a:cubicBezTo>
                <a:cubicBezTo>
                  <a:pt x="9769" y="2476"/>
                  <a:pt x="9998" y="3117"/>
                  <a:pt x="9998" y="3810"/>
                </a:cubicBezTo>
                <a:cubicBezTo>
                  <a:pt x="9998" y="4254"/>
                  <a:pt x="9902" y="4682"/>
                  <a:pt x="9711" y="5095"/>
                </a:cubicBezTo>
                <a:cubicBezTo>
                  <a:pt x="9519" y="5495"/>
                  <a:pt x="9248" y="5860"/>
                  <a:pt x="8898" y="6190"/>
                </a:cubicBezTo>
                <a:cubicBezTo>
                  <a:pt x="8840" y="6247"/>
                  <a:pt x="8723" y="6342"/>
                  <a:pt x="8548" y="6476"/>
                </a:cubicBezTo>
                <a:cubicBezTo>
                  <a:pt x="8223" y="6736"/>
                  <a:pt x="7994" y="6943"/>
                  <a:pt x="7861" y="7095"/>
                </a:cubicBezTo>
                <a:cubicBezTo>
                  <a:pt x="7619" y="7361"/>
                  <a:pt x="7498" y="7615"/>
                  <a:pt x="7498" y="7857"/>
                </a:cubicBezTo>
                <a:lnTo>
                  <a:pt x="7498" y="9048"/>
                </a:lnTo>
                <a:cubicBezTo>
                  <a:pt x="7498" y="9219"/>
                  <a:pt x="7442" y="9378"/>
                  <a:pt x="7330" y="9524"/>
                </a:cubicBezTo>
                <a:cubicBezTo>
                  <a:pt x="7217" y="9670"/>
                  <a:pt x="7065" y="9785"/>
                  <a:pt x="6874" y="9871"/>
                </a:cubicBezTo>
                <a:cubicBezTo>
                  <a:pt x="6682" y="9957"/>
                  <a:pt x="6473" y="10000"/>
                  <a:pt x="6249" y="10000"/>
                </a:cubicBezTo>
                <a:lnTo>
                  <a:pt x="3749" y="10000"/>
                </a:lnTo>
                <a:cubicBezTo>
                  <a:pt x="3524" y="10000"/>
                  <a:pt x="3316" y="9957"/>
                  <a:pt x="3124" y="9871"/>
                </a:cubicBezTo>
                <a:cubicBezTo>
                  <a:pt x="2932" y="9785"/>
                  <a:pt x="2780" y="9670"/>
                  <a:pt x="2668" y="9524"/>
                </a:cubicBezTo>
                <a:cubicBezTo>
                  <a:pt x="2555" y="9378"/>
                  <a:pt x="2499" y="9219"/>
                  <a:pt x="2499" y="9048"/>
                </a:cubicBezTo>
                <a:lnTo>
                  <a:pt x="2499" y="7857"/>
                </a:lnTo>
                <a:cubicBezTo>
                  <a:pt x="2499" y="7615"/>
                  <a:pt x="2378" y="7361"/>
                  <a:pt x="2137" y="7095"/>
                </a:cubicBezTo>
                <a:cubicBezTo>
                  <a:pt x="2003" y="6943"/>
                  <a:pt x="1774" y="6736"/>
                  <a:pt x="1450" y="6476"/>
                </a:cubicBezTo>
                <a:cubicBezTo>
                  <a:pt x="1274" y="6342"/>
                  <a:pt x="1158" y="6247"/>
                  <a:pt x="1100" y="619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863434" y="2494657"/>
            <a:ext cx="88500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KIMI · 技术质检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657061" y="2773263"/>
            <a:ext cx="5361234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负责技术质检、商业逻辑补充、长上下文细节打磨，验证了网页端AI助手在高频交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互中的不可替代性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6170657" y="2154436"/>
            <a:ext cx="5561209" cy="13138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 flipH="false" flipV="false" rot="0">
            <a:off x="6354785" y="2480370"/>
            <a:ext cx="142839" cy="142875"/>
          </a:xfrm>
          <a:custGeom>
            <a:rect b="b" l="l" r="r" t="t"/>
            <a:pathLst>
              <a:path h="10000" w="9998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TextBox 14"/>
          <p:cNvSpPr txBox="true"/>
          <p:nvPr/>
        </p:nvSpPr>
        <p:spPr>
          <a:xfrm flipH="false" flipV="false" rot="0">
            <a:off x="6577005" y="2485132"/>
            <a:ext cx="62849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一票否决权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6370632" y="2763738"/>
            <a:ext cx="5361234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技术底线问题（数据泄漏、指标虚高、验证集污染）由技术质检方直接否决，确保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科学严谨性</a:t>
            </a:r>
            <a:endParaRPr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457086" y="3620691"/>
            <a:ext cx="5561209" cy="13138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 flipH="false" flipV="false" rot="0">
            <a:off x="641214" y="3946624"/>
            <a:ext cx="142839" cy="142875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3999" y="4000"/>
                </a:moveTo>
                <a:lnTo>
                  <a:pt x="7249" y="2750"/>
                </a:lnTo>
                <a:lnTo>
                  <a:pt x="5999" y="6000"/>
                </a:lnTo>
                <a:lnTo>
                  <a:pt x="2749" y="7250"/>
                </a:lnTo>
                <a:lnTo>
                  <a:pt x="3999" y="4000"/>
                </a:lnTo>
                <a:moveTo>
                  <a:pt x="4999" y="5500"/>
                </a:moveTo>
                <a:cubicBezTo>
                  <a:pt x="5139" y="5500"/>
                  <a:pt x="5257" y="5451"/>
                  <a:pt x="5354" y="5355"/>
                </a:cubicBezTo>
                <a:cubicBezTo>
                  <a:pt x="5450" y="5258"/>
                  <a:pt x="5499" y="5140"/>
                  <a:pt x="5499" y="5000"/>
                </a:cubicBezTo>
                <a:cubicBezTo>
                  <a:pt x="5499" y="4860"/>
                  <a:pt x="5450" y="4741"/>
                  <a:pt x="5354" y="4645"/>
                </a:cubicBezTo>
                <a:cubicBezTo>
                  <a:pt x="5257" y="4548"/>
                  <a:pt x="5139" y="4500"/>
                  <a:pt x="4999" y="4500"/>
                </a:cubicBezTo>
                <a:cubicBezTo>
                  <a:pt x="4859" y="4500"/>
                  <a:pt x="4740" y="4548"/>
                  <a:pt x="4644" y="4645"/>
                </a:cubicBezTo>
                <a:cubicBezTo>
                  <a:pt x="4547" y="4741"/>
                  <a:pt x="4499" y="4860"/>
                  <a:pt x="4499" y="5000"/>
                </a:cubicBezTo>
                <a:cubicBezTo>
                  <a:pt x="4499" y="5140"/>
                  <a:pt x="4547" y="5258"/>
                  <a:pt x="4644" y="5355"/>
                </a:cubicBezTo>
                <a:cubicBezTo>
                  <a:pt x="4740" y="5451"/>
                  <a:pt x="4859" y="5500"/>
                  <a:pt x="4999" y="55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true"/>
          <p:nvPr/>
        </p:nvSpPr>
        <p:spPr>
          <a:xfrm flipH="false" flipV="false" rot="0">
            <a:off x="863434" y="3951387"/>
            <a:ext cx="128897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DEEPSEEK · 战略顾问</a:t>
            </a:r>
            <a:endParaRPr lang="en-US" sz="1100"/>
          </a:p>
        </p:txBody>
      </p:sp>
      <p:sp>
        <p:nvSpPr>
          <p:cNvPr id="19" name="TextBox 19"/>
          <p:cNvSpPr txBox="true"/>
          <p:nvPr/>
        </p:nvSpPr>
        <p:spPr>
          <a:xfrm flipH="false" flipV="false" rot="0">
            <a:off x="657061" y="4229993"/>
            <a:ext cx="5361234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负责用户视角分析、竞品对比、答辩叙事框架设计，提供方向性建议而不碰执行指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令</a:t>
            </a:r>
            <a:endParaRPr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6170657" y="3620691"/>
            <a:ext cx="5561209" cy="13138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 flipH="false" flipV="false" rot="0">
            <a:off x="6354785" y="3946624"/>
            <a:ext cx="142839" cy="142875"/>
          </a:xfrm>
          <a:custGeom>
            <a:rect b="b" l="l" r="r" t="t"/>
            <a:pathLst>
              <a:path h="10000" w="9998">
                <a:moveTo>
                  <a:pt x="8887" y="3500"/>
                </a:moveTo>
                <a:lnTo>
                  <a:pt x="8887" y="4000"/>
                </a:lnTo>
                <a:lnTo>
                  <a:pt x="9443" y="4000"/>
                </a:lnTo>
                <a:cubicBezTo>
                  <a:pt x="9598" y="4000"/>
                  <a:pt x="9729" y="4048"/>
                  <a:pt x="9837" y="4145"/>
                </a:cubicBezTo>
                <a:cubicBezTo>
                  <a:pt x="9944" y="4241"/>
                  <a:pt x="9998" y="4360"/>
                  <a:pt x="9998" y="4500"/>
                </a:cubicBezTo>
                <a:lnTo>
                  <a:pt x="9998" y="9500"/>
                </a:lnTo>
                <a:cubicBezTo>
                  <a:pt x="9998" y="9640"/>
                  <a:pt x="9944" y="9758"/>
                  <a:pt x="9837" y="9855"/>
                </a:cubicBezTo>
                <a:cubicBezTo>
                  <a:pt x="9729" y="9951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51"/>
                  <a:pt x="161" y="9855"/>
                </a:cubicBezTo>
                <a:cubicBezTo>
                  <a:pt x="53" y="9758"/>
                  <a:pt x="0" y="9640"/>
                  <a:pt x="0" y="9500"/>
                </a:cubicBezTo>
                <a:lnTo>
                  <a:pt x="0" y="4500"/>
                </a:lnTo>
                <a:cubicBezTo>
                  <a:pt x="0" y="4360"/>
                  <a:pt x="53" y="4241"/>
                  <a:pt x="161" y="4145"/>
                </a:cubicBezTo>
                <a:cubicBezTo>
                  <a:pt x="268" y="4048"/>
                  <a:pt x="399" y="4000"/>
                  <a:pt x="555" y="4000"/>
                </a:cubicBezTo>
                <a:lnTo>
                  <a:pt x="1111" y="4000"/>
                </a:lnTo>
                <a:lnTo>
                  <a:pt x="1111" y="3500"/>
                </a:lnTo>
                <a:cubicBezTo>
                  <a:pt x="1111" y="2866"/>
                  <a:pt x="1288" y="2276"/>
                  <a:pt x="1644" y="1730"/>
                </a:cubicBezTo>
                <a:cubicBezTo>
                  <a:pt x="1984" y="1203"/>
                  <a:pt x="2447" y="786"/>
                  <a:pt x="3033" y="480"/>
                </a:cubicBezTo>
                <a:cubicBezTo>
                  <a:pt x="3640" y="160"/>
                  <a:pt x="4295" y="0"/>
                  <a:pt x="4999" y="0"/>
                </a:cubicBezTo>
                <a:cubicBezTo>
                  <a:pt x="5702" y="0"/>
                  <a:pt x="6357" y="160"/>
                  <a:pt x="6965" y="480"/>
                </a:cubicBezTo>
                <a:cubicBezTo>
                  <a:pt x="7550" y="786"/>
                  <a:pt x="8013" y="1203"/>
                  <a:pt x="8354" y="1730"/>
                </a:cubicBezTo>
                <a:cubicBezTo>
                  <a:pt x="8709" y="2276"/>
                  <a:pt x="8887" y="2866"/>
                  <a:pt x="8887" y="3500"/>
                </a:cubicBezTo>
                <a:moveTo>
                  <a:pt x="8887" y="5000"/>
                </a:moveTo>
                <a:lnTo>
                  <a:pt x="1111" y="5000"/>
                </a:lnTo>
                <a:lnTo>
                  <a:pt x="1111" y="9000"/>
                </a:lnTo>
                <a:lnTo>
                  <a:pt x="8887" y="9000"/>
                </a:lnTo>
                <a:lnTo>
                  <a:pt x="8887" y="5000"/>
                </a:lnTo>
                <a:moveTo>
                  <a:pt x="4444" y="8000"/>
                </a:moveTo>
                <a:lnTo>
                  <a:pt x="4444" y="6000"/>
                </a:lnTo>
                <a:lnTo>
                  <a:pt x="5554" y="6000"/>
                </a:lnTo>
                <a:lnTo>
                  <a:pt x="5554" y="8000"/>
                </a:lnTo>
                <a:lnTo>
                  <a:pt x="4444" y="8000"/>
                </a:lnTo>
                <a:moveTo>
                  <a:pt x="2222" y="4000"/>
                </a:moveTo>
                <a:lnTo>
                  <a:pt x="7776" y="4000"/>
                </a:lnTo>
                <a:lnTo>
                  <a:pt x="7776" y="3500"/>
                </a:lnTo>
                <a:cubicBezTo>
                  <a:pt x="7776" y="3046"/>
                  <a:pt x="7652" y="2628"/>
                  <a:pt x="7404" y="2245"/>
                </a:cubicBezTo>
                <a:cubicBezTo>
                  <a:pt x="7156" y="1861"/>
                  <a:pt x="6819" y="1558"/>
                  <a:pt x="6393" y="1335"/>
                </a:cubicBezTo>
                <a:cubicBezTo>
                  <a:pt x="5967" y="1111"/>
                  <a:pt x="5502" y="1000"/>
                  <a:pt x="4999" y="1000"/>
                </a:cubicBezTo>
                <a:cubicBezTo>
                  <a:pt x="4495" y="1000"/>
                  <a:pt x="4031" y="1111"/>
                  <a:pt x="3605" y="1335"/>
                </a:cubicBezTo>
                <a:cubicBezTo>
                  <a:pt x="3179" y="1558"/>
                  <a:pt x="2842" y="1861"/>
                  <a:pt x="2594" y="2245"/>
                </a:cubicBezTo>
                <a:cubicBezTo>
                  <a:pt x="2346" y="2628"/>
                  <a:pt x="2222" y="3046"/>
                  <a:pt x="2222" y="3500"/>
                </a:cubicBez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2" name="TextBox 22"/>
          <p:cNvSpPr txBox="true"/>
          <p:nvPr/>
        </p:nvSpPr>
        <p:spPr>
          <a:xfrm flipH="false" flipV="false" rot="0">
            <a:off x="6577005" y="3951387"/>
            <a:ext cx="50856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红线制度</a:t>
            </a:r>
            <a:endParaRPr lang="en-US" sz="1100"/>
          </a:p>
        </p:txBody>
      </p:sp>
      <p:sp>
        <p:nvSpPr>
          <p:cNvPr id="23" name="TextBox 23"/>
          <p:cNvSpPr txBox="true"/>
          <p:nvPr/>
        </p:nvSpPr>
        <p:spPr>
          <a:xfrm flipH="false" flipV="false" rot="0">
            <a:off x="6370632" y="4229993"/>
            <a:ext cx="5361234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模型权重、验证集、实验数字一旦冻结任何人不得修改，包括指挥官在内，保障实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验可复现性</a:t>
            </a:r>
            <a:endParaRPr/>
          </a:p>
        </p:txBody>
      </p:sp>
      <p:sp>
        <p:nvSpPr>
          <p:cNvPr id="24" name="AutoShape 24"/>
          <p:cNvSpPr/>
          <p:nvPr/>
        </p:nvSpPr>
        <p:spPr>
          <a:xfrm flipH="false" flipV="false" rot="0">
            <a:off x="457086" y="5086946"/>
            <a:ext cx="5561209" cy="13138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 flipH="false" flipV="false" rot="0">
            <a:off x="641214" y="5523607"/>
            <a:ext cx="142839" cy="142875"/>
          </a:xfrm>
          <a:custGeom>
            <a:rect b="b" l="l" r="r" t="t"/>
            <a:pathLst>
              <a:path h="10000" w="9998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true"/>
          <p:nvPr/>
        </p:nvSpPr>
        <p:spPr>
          <a:xfrm flipH="false" flipV="false" rot="0">
            <a:off x="863434" y="5528370"/>
            <a:ext cx="145696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DSH AGENT · 开发工程师</a:t>
            </a:r>
            <a:endParaRPr lang="en-US" sz="1100"/>
          </a:p>
        </p:txBody>
      </p:sp>
      <p:sp>
        <p:nvSpPr>
          <p:cNvPr id="27" name="TextBox 27"/>
          <p:cNvSpPr txBox="true"/>
          <p:nvPr/>
        </p:nvSpPr>
        <p:spPr>
          <a:xfrm flipH="false" flipV="false" rot="0">
            <a:off x="657061" y="5806976"/>
            <a:ext cx="5361234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唯一能动代码和文件的执行者，按指令跑实验、改配置、生成报告、打包材料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 flipH="false" flipV="false" rot="0">
            <a:off x="6170657" y="5086946"/>
            <a:ext cx="5561209" cy="131385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 flipH="false" flipV="false" rot="0">
            <a:off x="6354785" y="5412878"/>
            <a:ext cx="142839" cy="142875"/>
          </a:xfrm>
          <a:custGeom>
            <a:rect b="b" l="l" r="r" t="t"/>
            <a:pathLst>
              <a:path h="10000" w="9998">
                <a:moveTo>
                  <a:pt x="500" y="0"/>
                </a:move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moveTo>
                  <a:pt x="4499" y="8889"/>
                </a:moveTo>
                <a:lnTo>
                  <a:pt x="4499" y="5556"/>
                </a:lnTo>
                <a:lnTo>
                  <a:pt x="1000" y="5556"/>
                </a:lnTo>
                <a:lnTo>
                  <a:pt x="1000" y="8889"/>
                </a:lnTo>
                <a:lnTo>
                  <a:pt x="4499" y="8889"/>
                </a:lnTo>
                <a:moveTo>
                  <a:pt x="8998" y="8889"/>
                </a:moveTo>
                <a:lnTo>
                  <a:pt x="8998" y="5556"/>
                </a:lnTo>
                <a:lnTo>
                  <a:pt x="5499" y="5556"/>
                </a:lnTo>
                <a:lnTo>
                  <a:pt x="5499" y="8889"/>
                </a:lnTo>
                <a:lnTo>
                  <a:pt x="8998" y="8889"/>
                </a:lnTo>
                <a:moveTo>
                  <a:pt x="4499" y="4444"/>
                </a:moveTo>
                <a:lnTo>
                  <a:pt x="4499" y="1111"/>
                </a:lnTo>
                <a:lnTo>
                  <a:pt x="1000" y="1111"/>
                </a:lnTo>
                <a:lnTo>
                  <a:pt x="1000" y="4444"/>
                </a:lnTo>
                <a:lnTo>
                  <a:pt x="4499" y="4444"/>
                </a:lnTo>
                <a:moveTo>
                  <a:pt x="8998" y="4444"/>
                </a:moveTo>
                <a:lnTo>
                  <a:pt x="8998" y="1111"/>
                </a:lnTo>
                <a:lnTo>
                  <a:pt x="5499" y="1111"/>
                </a:lnTo>
                <a:lnTo>
                  <a:pt x="5499" y="4444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0" name="TextBox 30"/>
          <p:cNvSpPr txBox="true"/>
          <p:nvPr/>
        </p:nvSpPr>
        <p:spPr>
          <a:xfrm flipH="false" flipV="false" rot="0">
            <a:off x="6577005" y="5417641"/>
            <a:ext cx="50856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边界清晰</a:t>
            </a:r>
            <a:endParaRPr lang="en-US" sz="1100"/>
          </a:p>
        </p:txBody>
      </p:sp>
      <p:sp>
        <p:nvSpPr>
          <p:cNvPr id="31" name="TextBox 31"/>
          <p:cNvSpPr txBox="true"/>
          <p:nvPr/>
        </p:nvSpPr>
        <p:spPr>
          <a:xfrm flipH="false" flipV="false" rot="0">
            <a:off x="6370632" y="5696247"/>
            <a:ext cx="5361234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每个AI只负责自己擅长的维度，做加法的和做减法的分工互补，避免角色混淆导致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的内耗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2A2A2A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true"/>
          <p:nvPr/>
        </p:nvSpPr>
        <p:spPr>
          <a:xfrm flipH="false" flipV="false" rot="0">
            <a:off x="839776" y="2152650"/>
            <a:ext cx="10509400" cy="61332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42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让每一条差评，都成为产品进化的信号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5789752" y="3146971"/>
            <a:ext cx="609448" cy="9525"/>
          </a:xfrm>
          <a:prstGeom prst="rect">
            <a:avLst/>
          </a:prstGeom>
          <a:solidFill>
            <a:srgbClr val="F1F3F5">
              <a:alpha val="34901"/>
            </a:srgbClr>
          </a:solidFill>
          <a:ln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2587549" y="3499396"/>
            <a:ext cx="7013856" cy="2914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300">
                <a:ln/>
                <a:solidFill>
                  <a:srgbClr val="F1F3F5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SoundInsight · 开源项目</a:t>
            </a:r>
            <a:endParaRPr lang="en-US" sz="1100"/>
          </a:p>
        </p:txBody>
      </p:sp>
      <p:sp>
        <p:nvSpPr>
          <p:cNvPr id="8" name="TextBox 8"/>
          <p:cNvSpPr txBox="true"/>
          <p:nvPr/>
        </p:nvSpPr>
        <p:spPr>
          <a:xfrm flipH="false" flipV="false" rot="0">
            <a:off x="2215274" y="3867001"/>
            <a:ext cx="7758405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100">
                <a:ln/>
                <a:solidFill>
                  <a:srgbClr val="F1F3F5">
                    <a:alpha val="70196"/>
                  </a:srgbClr>
                </a:solidFill>
                <a:latin typeface="Inter"/>
                <a:ea typeface="Inter"/>
                <a:cs typeface="Inter"/>
              </a:rPr>
              <a:t>GitHub: github.com/DaiYanQBZ95Doll/soundinsight</a:t>
            </a:r>
            <a:endParaRPr lang="en-US" sz="1100"/>
          </a:p>
        </p:txBody>
      </p:sp>
      <p:sp>
        <p:nvSpPr>
          <p:cNvPr id="9" name="TextBox 9"/>
          <p:cNvSpPr txBox="true"/>
          <p:nvPr/>
        </p:nvSpPr>
        <p:spPr>
          <a:xfrm flipH="false" flipV="false" rot="0">
            <a:off x="2523494" y="4400401"/>
            <a:ext cx="714196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500">
                <a:ln/>
                <a:solidFill>
                  <a:srgbClr val="F1F3F5">
                    <a:alpha val="9215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感谢各位评委，期待交流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